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  <p:sldMasterId id="2147483655" r:id="rId4"/>
    <p:sldMasterId id="2147483657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9" r:id="rId24"/>
    <p:sldId id="270" r:id="rId25"/>
  </p:sldIdLst>
  <p:sldSz cx="9144000" cy="5145088"/>
  <p:notesSz cx="7772400" cy="10058400"/>
  <p:defaultTextStyle>
    <a:defPPr>
      <a:defRPr lang="zh-Hans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316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5A2A0B8-1FDE-4A10-BBBC-20EB3D8456C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2040"/>
            <a:ext cx="6857640" cy="17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B961BC5-C567-4BB1-A1CC-4BCBD145A2A5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FCC9A4B-4827-426D-8089-537BFFB58F8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8BC4B09-97A2-4468-BAB8-1BBB60DCAB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2040"/>
            <a:ext cx="6857640" cy="17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1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B3ACB14-2449-48D0-AD83-B4344340B97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DB26D659-E7BD-44DA-AC3E-4DA294B0A49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143000" y="842040"/>
            <a:ext cx="6857640" cy="17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1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298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1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B2A98BA-4F01-4714-B969-0BAA279E2DA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161682A-7E5F-4FD2-B01E-098F340D987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143000" y="842040"/>
            <a:ext cx="6857640" cy="17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A971160-9350-45C4-B8FB-62E0933E2DF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FF61490-7822-4B45-ABAD-57A22AE6022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FABBAA4D-5E9D-4169-8DAE-0E40D8DE314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6C4C418C-F6B6-4D52-B4BB-A26FAD74CCB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2040"/>
            <a:ext cx="6857640" cy="179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685800">
              <a:lnSpc>
                <a:spcPct val="90000"/>
              </a:lnSpc>
              <a:buNone/>
            </a:pPr>
            <a:r>
              <a:rPr lang="zh-CN" sz="45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45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C37B37-C3C5-43F9-9051-BD5B7A7055A7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chemeClr val="dk1"/>
                </a:solidFill>
                <a:latin typeface="Inter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chemeClr val="dk1"/>
                </a:solidFill>
                <a:latin typeface="Inter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chemeClr val="dk1"/>
                </a:solidFill>
                <a:latin typeface="Inter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chemeClr val="dk1"/>
                </a:solidFill>
                <a:latin typeface="Inter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Inter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Inter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Inter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zh-CN" sz="33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33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28560" y="1369800"/>
            <a:ext cx="7886520" cy="3264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zh-CN" sz="21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2100" b="0" strike="noStrike" spc="-1">
              <a:solidFill>
                <a:schemeClr val="dk1"/>
              </a:solidFill>
              <a:latin typeface="Inter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800" b="0" strike="noStrike" spc="-1">
                <a:solidFill>
                  <a:schemeClr val="dk1"/>
                </a:solidFill>
                <a:latin typeface="Inter"/>
              </a:rPr>
              <a:t>二级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500" b="0" strike="noStrike" spc="-1">
                <a:solidFill>
                  <a:schemeClr val="dk1"/>
                </a:solidFill>
                <a:latin typeface="Inter"/>
              </a:rPr>
              <a:t>三级</a:t>
            </a:r>
            <a:endParaRPr lang="en-US" sz="1500" b="0" strike="noStrike" spc="-1">
              <a:solidFill>
                <a:schemeClr val="dk1"/>
              </a:solidFill>
              <a:latin typeface="Inter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四级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五级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EC81D2-F36B-4BF1-9EAB-83AED1E57281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543720" y="273960"/>
            <a:ext cx="1971360" cy="4359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zh-CN" sz="33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33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28560" y="273960"/>
            <a:ext cx="5800320" cy="4359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zh-CN" sz="21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2100" b="0" strike="noStrike" spc="-1">
              <a:solidFill>
                <a:schemeClr val="dk1"/>
              </a:solidFill>
              <a:latin typeface="Inter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800" b="0" strike="noStrike" spc="-1">
                <a:solidFill>
                  <a:schemeClr val="dk1"/>
                </a:solidFill>
                <a:latin typeface="Inter"/>
              </a:rPr>
              <a:t>二级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500" b="0" strike="noStrike" spc="-1">
                <a:solidFill>
                  <a:schemeClr val="dk1"/>
                </a:solidFill>
                <a:latin typeface="Inter"/>
              </a:rPr>
              <a:t>三级</a:t>
            </a:r>
            <a:endParaRPr lang="en-US" sz="1500" b="0" strike="noStrike" spc="-1">
              <a:solidFill>
                <a:schemeClr val="dk1"/>
              </a:solidFill>
              <a:latin typeface="Inter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四级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五级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433078-B2C1-48D5-A8FD-F941518A71B9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zh-CN" sz="33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33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28560" y="1369800"/>
            <a:ext cx="7886520" cy="32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zh-CN" sz="21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2100" b="0" strike="noStrike" spc="-1">
              <a:solidFill>
                <a:schemeClr val="dk1"/>
              </a:solidFill>
              <a:latin typeface="Inter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800" b="0" strike="noStrike" spc="-1">
                <a:solidFill>
                  <a:schemeClr val="dk1"/>
                </a:solidFill>
                <a:latin typeface="Inter"/>
              </a:rPr>
              <a:t>二级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500" b="0" strike="noStrike" spc="-1">
                <a:solidFill>
                  <a:schemeClr val="dk1"/>
                </a:solidFill>
                <a:latin typeface="Inter"/>
              </a:rPr>
              <a:t>三级</a:t>
            </a:r>
            <a:endParaRPr lang="en-US" sz="1500" b="0" strike="noStrike" spc="-1">
              <a:solidFill>
                <a:schemeClr val="dk1"/>
              </a:solidFill>
              <a:latin typeface="Inter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四级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五级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19F7B8-FD82-480D-9409-997E08BD63E5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3880" y="1282680"/>
            <a:ext cx="7886520" cy="213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zh-CN" sz="45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45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23880" y="3443040"/>
            <a:ext cx="7886520" cy="112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zh-CN" sz="18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单击此处编辑母版文本样式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414AD1-736E-494C-B6A9-01077F04453D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zh-CN" sz="33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33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28560" y="1369800"/>
            <a:ext cx="3885840" cy="32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zh-CN" sz="21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2100" b="0" strike="noStrike" spc="-1">
              <a:solidFill>
                <a:schemeClr val="dk1"/>
              </a:solidFill>
              <a:latin typeface="Inter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800" b="0" strike="noStrike" spc="-1">
                <a:solidFill>
                  <a:schemeClr val="dk1"/>
                </a:solidFill>
                <a:latin typeface="Inter"/>
              </a:rPr>
              <a:t>二级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500" b="0" strike="noStrike" spc="-1">
                <a:solidFill>
                  <a:schemeClr val="dk1"/>
                </a:solidFill>
                <a:latin typeface="Inter"/>
              </a:rPr>
              <a:t>三级</a:t>
            </a:r>
            <a:endParaRPr lang="en-US" sz="1500" b="0" strike="noStrike" spc="-1">
              <a:solidFill>
                <a:schemeClr val="dk1"/>
              </a:solidFill>
              <a:latin typeface="Inter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四级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五级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29240" y="1369800"/>
            <a:ext cx="3885840" cy="32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zh-CN" sz="21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2100" b="0" strike="noStrike" spc="-1">
              <a:solidFill>
                <a:schemeClr val="dk1"/>
              </a:solidFill>
              <a:latin typeface="Inter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800" b="0" strike="noStrike" spc="-1">
                <a:solidFill>
                  <a:schemeClr val="dk1"/>
                </a:solidFill>
                <a:latin typeface="Inter"/>
              </a:rPr>
              <a:t>二级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500" b="0" strike="noStrike" spc="-1">
                <a:solidFill>
                  <a:schemeClr val="dk1"/>
                </a:solidFill>
                <a:latin typeface="Inter"/>
              </a:rPr>
              <a:t>三级</a:t>
            </a:r>
            <a:endParaRPr lang="en-US" sz="1500" b="0" strike="noStrike" spc="-1">
              <a:solidFill>
                <a:schemeClr val="dk1"/>
              </a:solidFill>
              <a:latin typeface="Inter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四级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五级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0DE819-2CAE-446F-A74A-0B685D64ABB8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zh-CN" sz="33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33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30000" y="1261440"/>
            <a:ext cx="3867840" cy="61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zh-CN" sz="1800" b="1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30000" y="1879560"/>
            <a:ext cx="3867840" cy="276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zh-CN" sz="21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2100" b="0" strike="noStrike" spc="-1">
              <a:solidFill>
                <a:schemeClr val="dk1"/>
              </a:solidFill>
              <a:latin typeface="Inter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800" b="0" strike="noStrike" spc="-1">
                <a:solidFill>
                  <a:schemeClr val="dk1"/>
                </a:solidFill>
                <a:latin typeface="Inter"/>
              </a:rPr>
              <a:t>二级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500" b="0" strike="noStrike" spc="-1">
                <a:solidFill>
                  <a:schemeClr val="dk1"/>
                </a:solidFill>
                <a:latin typeface="Inter"/>
              </a:rPr>
              <a:t>三级</a:t>
            </a:r>
            <a:endParaRPr lang="en-US" sz="1500" b="0" strike="noStrike" spc="-1">
              <a:solidFill>
                <a:schemeClr val="dk1"/>
              </a:solidFill>
              <a:latin typeface="Inter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四级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五级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29240" y="1261440"/>
            <a:ext cx="3886920" cy="61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zh-CN" sz="1800" b="1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29240" y="1879560"/>
            <a:ext cx="3886920" cy="276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zh-CN" sz="21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2100" b="0" strike="noStrike" spc="-1">
              <a:solidFill>
                <a:schemeClr val="dk1"/>
              </a:solidFill>
              <a:latin typeface="Inter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800" b="0" strike="noStrike" spc="-1">
                <a:solidFill>
                  <a:schemeClr val="dk1"/>
                </a:solidFill>
                <a:latin typeface="Inter"/>
              </a:rPr>
              <a:t>二级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500" b="0" strike="noStrike" spc="-1">
                <a:solidFill>
                  <a:schemeClr val="dk1"/>
                </a:solidFill>
                <a:latin typeface="Inter"/>
              </a:rPr>
              <a:t>三级</a:t>
            </a:r>
            <a:endParaRPr lang="en-US" sz="1500" b="0" strike="noStrike" spc="-1">
              <a:solidFill>
                <a:schemeClr val="dk1"/>
              </a:solidFill>
              <a:latin typeface="Inter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四级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350" b="0" strike="noStrike" spc="-1">
                <a:solidFill>
                  <a:schemeClr val="dk1"/>
                </a:solidFill>
                <a:latin typeface="Inter"/>
              </a:rPr>
              <a:t>五级</a:t>
            </a:r>
            <a:endParaRPr lang="en-US" sz="135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003D6D-89C8-47F5-963C-60C81DF21DB1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zh-CN" sz="33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33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07A782-AF63-4F0D-8B00-B30C169A0845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2E1A6D-2A29-4FF4-9C68-4EA5BC5298B2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2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zh-CN" sz="24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24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887280" y="740880"/>
            <a:ext cx="4628880" cy="365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zh-CN" sz="24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2400" b="0" strike="noStrike" spc="-1">
              <a:solidFill>
                <a:schemeClr val="dk1"/>
              </a:solidFill>
              <a:latin typeface="Inter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2100" b="0" strike="noStrike" spc="-1">
                <a:solidFill>
                  <a:schemeClr val="dk1"/>
                </a:solidFill>
                <a:latin typeface="Inter"/>
              </a:rPr>
              <a:t>二级</a:t>
            </a:r>
            <a:endParaRPr lang="en-US" sz="2100" b="0" strike="noStrike" spc="-1">
              <a:solidFill>
                <a:schemeClr val="dk1"/>
              </a:solidFill>
              <a:latin typeface="Inter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800" b="0" strike="noStrike" spc="-1">
                <a:solidFill>
                  <a:schemeClr val="dk1"/>
                </a:solidFill>
                <a:latin typeface="Inter"/>
              </a:rPr>
              <a:t>三级</a:t>
            </a:r>
            <a:endParaRPr lang="en-US" sz="1800" b="0" strike="noStrike" spc="-1">
              <a:solidFill>
                <a:schemeClr val="dk1"/>
              </a:solidFill>
              <a:latin typeface="Inter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500" b="0" strike="noStrike" spc="-1">
                <a:solidFill>
                  <a:schemeClr val="dk1"/>
                </a:solidFill>
                <a:latin typeface="Inter"/>
              </a:rPr>
              <a:t>四级</a:t>
            </a:r>
            <a:endParaRPr lang="en-US" sz="1500" b="0" strike="noStrike" spc="-1">
              <a:solidFill>
                <a:schemeClr val="dk1"/>
              </a:solidFill>
              <a:latin typeface="Inter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zh-CN" sz="1500" b="0" strike="noStrike" spc="-1">
                <a:solidFill>
                  <a:schemeClr val="dk1"/>
                </a:solidFill>
                <a:latin typeface="Inter"/>
              </a:rPr>
              <a:t>五级</a:t>
            </a:r>
            <a:endParaRPr lang="en-US" sz="15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30000" y="1543680"/>
            <a:ext cx="2948760" cy="285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zh-CN" sz="12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12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D9828E-08EF-422F-92D1-8CE05239D428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2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zh-CN" sz="2400" b="0" strike="noStrike" spc="-1">
                <a:solidFill>
                  <a:schemeClr val="dk1"/>
                </a:solidFill>
                <a:latin typeface="Inter"/>
              </a:rPr>
              <a:t>单击此处编辑母版标题样式</a:t>
            </a:r>
            <a:endParaRPr lang="en-US" sz="24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887280" y="740880"/>
            <a:ext cx="4628880" cy="3656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2400" b="0" strike="noStrike" spc="-1">
                <a:solidFill>
                  <a:schemeClr val="dk1"/>
                </a:solidFill>
                <a:latin typeface="Inter"/>
              </a:rPr>
              <a:t>单击图标添加图片</a:t>
            </a:r>
            <a:endParaRPr lang="en-US" sz="24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30000" y="1543680"/>
            <a:ext cx="2948760" cy="285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zh-CN" sz="1200" b="0" strike="noStrike" spc="-1">
                <a:solidFill>
                  <a:schemeClr val="dk1"/>
                </a:solidFill>
                <a:latin typeface="Inter"/>
              </a:rPr>
              <a:t>单击此处编辑母版文本样式</a:t>
            </a:r>
            <a:endParaRPr lang="en-US" sz="12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62856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029040" y="476856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458040" y="476856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C1D732-AFCD-42ED-BFC8-9CE7847CD4E2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Inter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ightColumnBg"/>
          <p:cNvSpPr/>
          <p:nvPr/>
        </p:nvSpPr>
        <p:spPr>
          <a:xfrm>
            <a:off x="5486400" y="0"/>
            <a:ext cx="3657240" cy="5144760"/>
          </a:xfrm>
          <a:prstGeom prst="rect">
            <a:avLst/>
          </a:prstGeom>
          <a:gradFill rotWithShape="0">
            <a:gsLst>
              <a:gs pos="0">
                <a:srgbClr val="007B83"/>
              </a:gs>
              <a:gs pos="100000">
                <a:srgbClr val="005F66"/>
              </a:gs>
            </a:gsLst>
            <a:lin ang="81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AbstractShape2"/>
          <p:cNvSpPr/>
          <p:nvPr/>
        </p:nvSpPr>
        <p:spPr>
          <a:xfrm>
            <a:off x="4572000" y="-571680"/>
            <a:ext cx="2285640" cy="22856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AbstractShape1"/>
          <p:cNvSpPr/>
          <p:nvPr/>
        </p:nvSpPr>
        <p:spPr>
          <a:xfrm>
            <a:off x="6286680" y="2286000"/>
            <a:ext cx="3428640" cy="3428640"/>
          </a:xfrm>
          <a:prstGeom prst="ellipse">
            <a:avLst/>
          </a:prstGeom>
          <a:solidFill>
            <a:srgbClr val="C8D436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ubtitleBorder"/>
          <p:cNvSpPr/>
          <p:nvPr/>
        </p:nvSpPr>
        <p:spPr>
          <a:xfrm>
            <a:off x="457200" y="3200040"/>
            <a:ext cx="45360" cy="365400"/>
          </a:xfrm>
          <a:prstGeom prst="rect">
            <a:avLst/>
          </a:prstGeom>
          <a:solidFill>
            <a:srgbClr val="C8D4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itle"/>
          <p:cNvSpPr/>
          <p:nvPr/>
        </p:nvSpPr>
        <p:spPr>
          <a:xfrm>
            <a:off x="434520" y="685980"/>
            <a:ext cx="48002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457200">
              <a:lnSpc>
                <a:spcPct val="110000"/>
              </a:lnSpc>
            </a:pPr>
            <a:r>
              <a:rPr lang="en-US" sz="4800" b="1" strike="noStrike" spc="-1" dirty="0" err="1">
                <a:solidFill>
                  <a:srgbClr val="007B83"/>
                </a:solidFill>
                <a:latin typeface="Inter"/>
                <a:ea typeface="Inter"/>
              </a:rPr>
              <a:t>SaveHub</a:t>
            </a:r>
            <a:endParaRPr lang="en-US" sz="4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lang="zh-CN" sz="4800" b="1" strike="noStrike" spc="-1" dirty="0">
                <a:solidFill>
                  <a:srgbClr val="007B83"/>
                </a:solidFill>
                <a:latin typeface="Inter"/>
                <a:ea typeface="Inter"/>
              </a:rPr>
              <a:t>你的开源宝藏</a:t>
            </a:r>
            <a:endParaRPr lang="en-US" sz="4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lang="zh-CN" sz="4800" b="1" strike="noStrike" spc="-1" dirty="0">
                <a:solidFill>
                  <a:srgbClr val="007B83"/>
                </a:solidFill>
                <a:latin typeface="Inter"/>
                <a:ea typeface="Inter"/>
              </a:rPr>
              <a:t>发掘神器</a:t>
            </a:r>
            <a:endParaRPr lang="en-US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ubtitle"/>
          <p:cNvSpPr/>
          <p:nvPr/>
        </p:nvSpPr>
        <p:spPr>
          <a:xfrm>
            <a:off x="548820" y="325791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RSS</a:t>
            </a:r>
            <a:r>
              <a:rPr lang="zh-CN" sz="20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驱动 </a:t>
            </a:r>
            <a:r>
              <a:rPr lang="en-US" sz="20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× AI</a:t>
            </a:r>
            <a:r>
              <a:rPr lang="zh-CN" sz="20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解析 </a:t>
            </a:r>
            <a:r>
              <a:rPr lang="en-US" sz="20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× </a:t>
            </a:r>
            <a:r>
              <a:rPr lang="en-US" sz="2000" b="1" strike="noStrike" spc="-1" dirty="0" err="1">
                <a:solidFill>
                  <a:srgbClr val="22333B"/>
                </a:solidFill>
                <a:latin typeface="Inter"/>
                <a:ea typeface="Inter"/>
              </a:rPr>
              <a:t>OpenDigger</a:t>
            </a:r>
            <a:r>
              <a:rPr lang="zh-CN" sz="20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分析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ag1"/>
          <p:cNvSpPr/>
          <p:nvPr/>
        </p:nvSpPr>
        <p:spPr>
          <a:xfrm>
            <a:off x="457200" y="4457880"/>
            <a:ext cx="1028520" cy="342720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7B83"/>
                </a:solidFill>
                <a:latin typeface="Inter"/>
                <a:ea typeface="Inter"/>
              </a:rPr>
              <a:t>MIT</a:t>
            </a:r>
            <a:r>
              <a:rPr lang="zh-CN" sz="1200" b="1" strike="noStrike" spc="-1" dirty="0">
                <a:solidFill>
                  <a:srgbClr val="007B83"/>
                </a:solidFill>
                <a:latin typeface="Inter"/>
                <a:ea typeface="Inter"/>
              </a:rPr>
              <a:t>开源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ag2"/>
          <p:cNvSpPr/>
          <p:nvPr/>
        </p:nvSpPr>
        <p:spPr>
          <a:xfrm>
            <a:off x="1600200" y="4457880"/>
            <a:ext cx="1828440" cy="342720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altLang="en-US" sz="1200" b="1" spc="-1" dirty="0">
                <a:solidFill>
                  <a:srgbClr val="007B83"/>
                </a:solidFill>
                <a:latin typeface="Inter"/>
                <a:ea typeface="Inter"/>
              </a:rPr>
              <a:t>张春贤</a:t>
            </a:r>
            <a:r>
              <a:rPr lang="zh-CN" sz="1200" b="1" strike="noStrike" spc="-1" dirty="0">
                <a:solidFill>
                  <a:srgbClr val="007B83"/>
                </a:solidFill>
                <a:latin typeface="Inter"/>
                <a:ea typeface="Inter"/>
              </a:rPr>
              <a:t>参赛作品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opLabel"/>
          <p:cNvSpPr/>
          <p:nvPr/>
        </p:nvSpPr>
        <p:spPr>
          <a:xfrm>
            <a:off x="479880" y="652635"/>
            <a:ext cx="3999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97" dirty="0">
                <a:solidFill>
                  <a:srgbClr val="9EA7AD"/>
                </a:solidFill>
                <a:latin typeface="Inter"/>
              </a:rPr>
              <a:t>OPENRANK ENTRY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Nav Pill"/>
          <p:cNvSpPr/>
          <p:nvPr/>
        </p:nvSpPr>
        <p:spPr>
          <a:xfrm>
            <a:off x="457200" y="457200"/>
            <a:ext cx="1099800" cy="279720"/>
          </a:xfrm>
          <a:prstGeom prst="roundRect">
            <a:avLst>
              <a:gd name="adj" fmla="val 50000"/>
            </a:avLst>
          </a:prstGeom>
          <a:solidFill>
            <a:srgbClr val="E0E4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555555"/>
                </a:solidFill>
                <a:latin typeface="Inter"/>
              </a:rPr>
              <a:t>Back to Agenda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Logo"/>
          <p:cNvSpPr/>
          <p:nvPr/>
        </p:nvSpPr>
        <p:spPr>
          <a:xfrm>
            <a:off x="7499880" y="457200"/>
            <a:ext cx="118656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0" bIns="45000"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007B83"/>
                </a:solidFill>
                <a:latin typeface="Inter"/>
              </a:rPr>
              <a:t>SaveHub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itle"/>
          <p:cNvSpPr/>
          <p:nvPr/>
        </p:nvSpPr>
        <p:spPr>
          <a:xfrm>
            <a:off x="457200" y="799920"/>
            <a:ext cx="8229240" cy="59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2800" b="0" strike="noStrike" spc="-1">
                <a:solidFill>
                  <a:srgbClr val="007B83"/>
                </a:solidFill>
                <a:latin typeface="Inter"/>
                <a:ea typeface="Microsoft YaHei"/>
              </a:rPr>
              <a:t>灵魂拷问：你的</a:t>
            </a:r>
            <a:r>
              <a:rPr lang="en-US" sz="2800" b="0" strike="noStrike" spc="-1">
                <a:solidFill>
                  <a:srgbClr val="007B83"/>
                </a:solidFill>
                <a:latin typeface="Inter"/>
                <a:ea typeface="Microsoft YaHei"/>
              </a:rPr>
              <a:t>GitHub Star</a:t>
            </a:r>
            <a:r>
              <a:rPr lang="zh-CN" sz="2800" b="0" strike="noStrike" spc="-1">
                <a:solidFill>
                  <a:srgbClr val="007B83"/>
                </a:solidFill>
                <a:latin typeface="Inter"/>
                <a:ea typeface="Microsoft YaHei"/>
              </a:rPr>
              <a:t>，还记得几个？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Left Card Bg"/>
          <p:cNvSpPr/>
          <p:nvPr/>
        </p:nvSpPr>
        <p:spPr>
          <a:xfrm>
            <a:off x="457200" y="1486080"/>
            <a:ext cx="3943080" cy="342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152280" dist="5076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43080" tIns="343080" rIns="343080" bIns="34308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6400" b="1" strike="noStrike" spc="-1">
                <a:solidFill>
                  <a:srgbClr val="E8A356"/>
                </a:solidFill>
                <a:latin typeface="Inter"/>
              </a:rPr>
              <a:t>500+</a:t>
            </a:r>
            <a:r>
              <a:rPr lang="en-US" sz="2400" b="1" strike="noStrike" spc="-1">
                <a:solidFill>
                  <a:srgbClr val="9EA7AD"/>
                </a:solidFill>
                <a:latin typeface="Inter"/>
              </a:rPr>
              <a:t> Star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800" b="1" strike="noStrike" spc="-1">
                <a:solidFill>
                  <a:srgbClr val="22333B"/>
                </a:solidFill>
                <a:latin typeface="Inter"/>
                <a:ea typeface="Microsoft YaHei"/>
              </a:rPr>
              <a:t>平均开发者拥有量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9EA7AD"/>
                </a:solidFill>
                <a:latin typeface="Inter"/>
                <a:ea typeface="Microsoft YaHei"/>
              </a:rPr>
              <a:t>但真正用过 </a:t>
            </a:r>
            <a:r>
              <a:rPr lang="en-US" sz="1400" b="0" strike="noStrike" spc="-1">
                <a:solidFill>
                  <a:srgbClr val="9EA7AD"/>
                </a:solidFill>
                <a:latin typeface="Inter"/>
                <a:ea typeface="Microsoft YaHei"/>
              </a:rPr>
              <a:t>&lt; 10%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Alert Box"/>
          <p:cNvSpPr/>
          <p:nvPr/>
        </p:nvSpPr>
        <p:spPr>
          <a:xfrm>
            <a:off x="786066" y="3984935"/>
            <a:ext cx="3457440" cy="399600"/>
          </a:xfrm>
          <a:prstGeom prst="roundRect">
            <a:avLst>
              <a:gd name="adj" fmla="val 16667"/>
            </a:avLst>
          </a:prstGeom>
          <a:solidFill>
            <a:srgbClr val="E8A356">
              <a:alpha val="10000"/>
            </a:srgbClr>
          </a:solidFill>
          <a:ln w="12700">
            <a:solidFill>
              <a:srgbClr val="E8A35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E8A356"/>
                </a:solidFill>
                <a:latin typeface="Inter"/>
                <a:ea typeface="Microsoft YaHei"/>
              </a:rPr>
              <a:t>⚠️ “</a:t>
            </a:r>
            <a:r>
              <a:rPr lang="zh-CN" sz="1200" b="1" strike="noStrike" spc="-1">
                <a:solidFill>
                  <a:srgbClr val="E8A356"/>
                </a:solidFill>
                <a:latin typeface="Inter"/>
                <a:ea typeface="Microsoft YaHei"/>
              </a:rPr>
              <a:t>刷到 → </a:t>
            </a:r>
            <a:r>
              <a:rPr lang="en-US" sz="1200" b="1" strike="noStrike" spc="-1">
                <a:solidFill>
                  <a:srgbClr val="E8A356"/>
                </a:solidFill>
                <a:latin typeface="Inter"/>
                <a:ea typeface="Microsoft YaHei"/>
              </a:rPr>
              <a:t>Star → </a:t>
            </a:r>
            <a:r>
              <a:rPr lang="zh-CN" sz="1200" b="1" strike="noStrike" spc="-1">
                <a:solidFill>
                  <a:srgbClr val="E8A356"/>
                </a:solidFill>
                <a:latin typeface="Inter"/>
                <a:ea typeface="Microsoft YaHei"/>
              </a:rPr>
              <a:t>遗忘” 死循环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ight Bg"/>
          <p:cNvSpPr/>
          <p:nvPr/>
        </p:nvSpPr>
        <p:spPr>
          <a:xfrm>
            <a:off x="4743360" y="1486080"/>
            <a:ext cx="3943080" cy="3428640"/>
          </a:xfrm>
          <a:prstGeom prst="roundRect">
            <a:avLst>
              <a:gd name="adj" fmla="val 16667"/>
            </a:avLst>
          </a:prstGeom>
          <a:solidFill>
            <a:srgbClr val="22333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82" name="GH Box"/>
          <p:cNvSpPr/>
          <p:nvPr/>
        </p:nvSpPr>
        <p:spPr>
          <a:xfrm>
            <a:off x="4971960" y="1714680"/>
            <a:ext cx="3485880" cy="1371240"/>
          </a:xfrm>
          <a:prstGeom prst="roundRect">
            <a:avLst>
              <a:gd name="adj" fmla="val 16667"/>
            </a:avLst>
          </a:prstGeom>
          <a:solidFill>
            <a:srgbClr val="22333B"/>
          </a:solidFill>
          <a:ln w="12700">
            <a:solidFill>
              <a:srgbClr val="44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Inter"/>
              </a:rPr>
              <a:t>user/repo-name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>
                    <a:alpha val="70000"/>
                  </a:srgbClr>
                </a:solidFill>
                <a:latin typeface="Inter"/>
              </a:rPr>
              <a:t>Updated: Never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GH Star"/>
          <p:cNvSpPr/>
          <p:nvPr/>
        </p:nvSpPr>
        <p:spPr>
          <a:xfrm>
            <a:off x="7499880" y="2000160"/>
            <a:ext cx="49968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strike="noStrike" spc="-1">
                <a:solidFill>
                  <a:srgbClr val="E8A356"/>
                </a:solidFill>
                <a:latin typeface="Inter"/>
              </a:rPr>
              <a:t>★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Last Visit"/>
          <p:cNvSpPr/>
          <p:nvPr/>
        </p:nvSpPr>
        <p:spPr>
          <a:xfrm>
            <a:off x="4971960" y="3200040"/>
            <a:ext cx="348588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666666"/>
                </a:solidFill>
                <a:latin typeface="Inter"/>
              </a:rPr>
              <a:t>Last visit: Never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Interaction Bar"/>
          <p:cNvSpPr/>
          <p:nvPr/>
        </p:nvSpPr>
        <p:spPr>
          <a:xfrm>
            <a:off x="4971960" y="3600000"/>
            <a:ext cx="3485880" cy="499680"/>
          </a:xfrm>
          <a:prstGeom prst="roundRect">
            <a:avLst>
              <a:gd name="adj" fmla="val 16667"/>
            </a:avLst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91440" rIns="228600" bIns="914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0" strike="noStrike" spc="-1" dirty="0">
                <a:solidFill>
                  <a:srgbClr val="FFFFFF"/>
                </a:solidFill>
                <a:latin typeface="Inter"/>
                <a:ea typeface="Microsoft YaHei"/>
              </a:rPr>
              <a:t>“你有多少</a:t>
            </a:r>
            <a:r>
              <a:rPr lang="en-US" sz="1200" b="0" strike="noStrike" spc="-1" dirty="0">
                <a:solidFill>
                  <a:srgbClr val="FFFFFF"/>
                </a:solidFill>
                <a:latin typeface="Inter"/>
                <a:ea typeface="Microsoft YaHei"/>
              </a:rPr>
              <a:t>Star</a:t>
            </a:r>
            <a:r>
              <a:rPr lang="zh-CN" sz="1200" b="0" strike="noStrike" spc="-1" dirty="0">
                <a:solidFill>
                  <a:srgbClr val="FFFFFF"/>
                </a:solidFill>
                <a:latin typeface="Inter"/>
                <a:ea typeface="Microsoft YaHei"/>
              </a:rPr>
              <a:t>？”   🗳️</a:t>
            </a:r>
            <a:r>
              <a:rPr lang="en-US" altLang="zh-CN" sz="1200" spc="-1" dirty="0">
                <a:solidFill>
                  <a:srgbClr val="FFFFFF"/>
                </a:solidFill>
                <a:latin typeface="Inter"/>
                <a:ea typeface="Microsoft YaHei"/>
              </a:rPr>
              <a:t>,</a:t>
            </a:r>
            <a:br>
              <a:rPr lang="en-US" altLang="zh-CN" sz="1200" spc="-1" dirty="0">
                <a:solidFill>
                  <a:srgbClr val="FFFFFF"/>
                </a:solidFill>
                <a:latin typeface="Inter"/>
                <a:ea typeface="Microsoft YaHei"/>
              </a:rPr>
            </a:br>
            <a:r>
              <a:rPr lang="en-US" altLang="zh-CN" sz="1200" spc="-1" dirty="0">
                <a:solidFill>
                  <a:srgbClr val="FFFFFF"/>
                </a:solidFill>
                <a:latin typeface="Inter"/>
                <a:ea typeface="Microsoft YaHei"/>
              </a:rPr>
              <a:t>Star</a:t>
            </a:r>
            <a:r>
              <a:rPr lang="zh-CN" altLang="en-US" sz="1200" spc="-1" dirty="0">
                <a:solidFill>
                  <a:srgbClr val="FFFFFF"/>
                </a:solidFill>
                <a:latin typeface="Inter"/>
                <a:ea typeface="Microsoft YaHei"/>
              </a:rPr>
              <a:t>后需要的时候你能想起来吗</a:t>
            </a:r>
            <a:endParaRPr lang="en-US" altLang="zh-CN" sz="1200" spc="-1" dirty="0">
              <a:solidFill>
                <a:srgbClr val="FFFFFF"/>
              </a:solidFill>
              <a:latin typeface="Inter"/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"/>
          <p:cNvSpPr/>
          <p:nvPr/>
        </p:nvSpPr>
        <p:spPr>
          <a:xfrm>
            <a:off x="457200" y="457200"/>
            <a:ext cx="8229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 dirty="0">
                <a:solidFill>
                  <a:srgbClr val="007B83"/>
                </a:solidFill>
                <a:latin typeface="Inter"/>
                <a:ea typeface="Inter"/>
              </a:rPr>
              <a:t>好项目淹没在信息洪流中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Card 1 Bg"/>
          <p:cNvSpPr/>
          <p:nvPr/>
        </p:nvSpPr>
        <p:spPr>
          <a:xfrm>
            <a:off x="457200" y="1257480"/>
            <a:ext cx="258300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101520" dist="2556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8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碎片化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0" strike="noStrike" spc="-1" dirty="0">
                <a:solidFill>
                  <a:srgbClr val="555555"/>
                </a:solidFill>
                <a:latin typeface="Inter"/>
                <a:ea typeface="Inter"/>
              </a:rPr>
              <a:t>场景：</a:t>
            </a:r>
            <a:r>
              <a:rPr lang="en-US" sz="1400" b="0" strike="noStrike" spc="-1" dirty="0">
                <a:solidFill>
                  <a:srgbClr val="555555"/>
                </a:solidFill>
                <a:latin typeface="Inter"/>
                <a:ea typeface="Inter"/>
              </a:rPr>
              <a:t>Twitter / HN / Reddit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1" strike="noStrike" spc="-1" dirty="0">
                <a:solidFill>
                  <a:srgbClr val="E8A356"/>
                </a:solidFill>
                <a:latin typeface="Inter"/>
                <a:ea typeface="Inter"/>
              </a:rPr>
              <a:t>结果：信息散落，错过更新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Card 1 Top"/>
          <p:cNvSpPr/>
          <p:nvPr/>
        </p:nvSpPr>
        <p:spPr>
          <a:xfrm>
            <a:off x="457200" y="1257480"/>
            <a:ext cx="2583000" cy="45360"/>
          </a:xfrm>
          <a:prstGeom prst="rect">
            <a:avLst/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Card 2 Bg"/>
          <p:cNvSpPr/>
          <p:nvPr/>
        </p:nvSpPr>
        <p:spPr>
          <a:xfrm>
            <a:off x="3269160" y="1257480"/>
            <a:ext cx="258300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101520" dist="2556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800" b="1" strike="noStrike" spc="-1">
                <a:solidFill>
                  <a:srgbClr val="22333B"/>
                </a:solidFill>
                <a:latin typeface="Inter"/>
                <a:ea typeface="Inter"/>
              </a:rPr>
              <a:t>无组织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555555"/>
                </a:solidFill>
                <a:latin typeface="Inter"/>
                <a:ea typeface="Inter"/>
              </a:rPr>
              <a:t>场景：</a:t>
            </a:r>
            <a:r>
              <a:rPr lang="en-US" sz="1400" b="0" strike="noStrike" spc="-1">
                <a:solidFill>
                  <a:srgbClr val="555555"/>
                </a:solidFill>
                <a:latin typeface="Inter"/>
                <a:ea typeface="Inter"/>
              </a:rPr>
              <a:t>Star = </a:t>
            </a:r>
            <a:r>
              <a:rPr lang="zh-CN" sz="1400" b="0" strike="noStrike" spc="-1">
                <a:solidFill>
                  <a:srgbClr val="555555"/>
                </a:solidFill>
                <a:latin typeface="Inter"/>
                <a:ea typeface="Inter"/>
              </a:rPr>
              <a:t>书签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E8A356"/>
                </a:solidFill>
                <a:latin typeface="Inter"/>
                <a:ea typeface="Inter"/>
              </a:rPr>
              <a:t>结果：知识无沉淀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Card 2 Top"/>
          <p:cNvSpPr/>
          <p:nvPr/>
        </p:nvSpPr>
        <p:spPr>
          <a:xfrm>
            <a:off x="3269160" y="1257480"/>
            <a:ext cx="2583000" cy="45360"/>
          </a:xfrm>
          <a:prstGeom prst="rect">
            <a:avLst/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Card 3 Bg"/>
          <p:cNvSpPr/>
          <p:nvPr/>
        </p:nvSpPr>
        <p:spPr>
          <a:xfrm>
            <a:off x="6080760" y="1257480"/>
            <a:ext cx="258300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101520" dist="2556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800" b="1" strike="noStrike" spc="-1">
                <a:solidFill>
                  <a:srgbClr val="22333B"/>
                </a:solidFill>
                <a:latin typeface="Inter"/>
                <a:ea typeface="Inter"/>
              </a:rPr>
              <a:t>难检索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555555"/>
                </a:solidFill>
                <a:latin typeface="Inter"/>
                <a:ea typeface="Inter"/>
              </a:rPr>
              <a:t>场景：“那个项目在哪？”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E8A356"/>
                </a:solidFill>
                <a:latin typeface="Inter"/>
                <a:ea typeface="Inter"/>
              </a:rPr>
              <a:t>结果：搜索成本 ↑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Card 3 Top"/>
          <p:cNvSpPr/>
          <p:nvPr/>
        </p:nvSpPr>
        <p:spPr>
          <a:xfrm>
            <a:off x="6080760" y="1257480"/>
            <a:ext cx="2583000" cy="45360"/>
          </a:xfrm>
          <a:prstGeom prst="rect">
            <a:avLst/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Footer"/>
          <p:cNvSpPr/>
          <p:nvPr/>
        </p:nvSpPr>
        <p:spPr>
          <a:xfrm>
            <a:off x="457200" y="3886200"/>
            <a:ext cx="8229240" cy="799920"/>
          </a:xfrm>
          <a:prstGeom prst="roundRect">
            <a:avLst>
              <a:gd name="adj" fmla="val 16667"/>
            </a:avLst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FFFFFF"/>
                </a:solidFill>
                <a:latin typeface="Inter"/>
                <a:ea typeface="Inter"/>
              </a:rPr>
              <a:t>→ </a:t>
            </a:r>
            <a:r>
              <a:rPr lang="zh-CN" sz="1800" b="1" strike="noStrike" spc="-1" dirty="0">
                <a:solidFill>
                  <a:srgbClr val="FFFFFF"/>
                </a:solidFill>
                <a:latin typeface="Inter"/>
                <a:ea typeface="Inter"/>
              </a:rPr>
              <a:t>转折：如果工具能自动收集、智能解析、精准检索</a:t>
            </a:r>
            <a:r>
              <a:rPr lang="zh-CN" altLang="en-US" sz="1800" b="1" strike="noStrike" spc="-1" dirty="0">
                <a:solidFill>
                  <a:srgbClr val="FFFFFF"/>
                </a:solidFill>
                <a:latin typeface="Inter"/>
                <a:ea typeface="Inter"/>
              </a:rPr>
              <a:t>开源项目</a:t>
            </a:r>
            <a:r>
              <a:rPr lang="zh-CN" sz="1800" b="1" strike="noStrike" spc="-1" dirty="0">
                <a:solidFill>
                  <a:srgbClr val="FFFFFF"/>
                </a:solidFill>
                <a:latin typeface="Inter"/>
                <a:ea typeface="Inter"/>
              </a:rPr>
              <a:t>？</a:t>
            </a:r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"/>
          <p:cNvSpPr/>
          <p:nvPr/>
        </p:nvSpPr>
        <p:spPr>
          <a:xfrm>
            <a:off x="457200" y="457200"/>
            <a:ext cx="82292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007B83"/>
                </a:solidFill>
                <a:latin typeface="Inter"/>
                <a:ea typeface="Inter"/>
              </a:rPr>
              <a:t>SaveHub </a:t>
            </a:r>
            <a:r>
              <a:rPr lang="zh-CN" sz="3200" b="1" strike="noStrike" spc="-1">
                <a:solidFill>
                  <a:srgbClr val="007B83"/>
                </a:solidFill>
                <a:latin typeface="Inter"/>
                <a:ea typeface="Inter"/>
              </a:rPr>
              <a:t>是什么？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ubtitle"/>
          <p:cNvSpPr/>
          <p:nvPr/>
        </p:nvSpPr>
        <p:spPr>
          <a:xfrm>
            <a:off x="457200" y="960120"/>
            <a:ext cx="82292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strike="noStrike" spc="-1" dirty="0">
                <a:solidFill>
                  <a:srgbClr val="555555"/>
                </a:solidFill>
                <a:latin typeface="Inter"/>
                <a:ea typeface="Inter"/>
              </a:rPr>
              <a:t>一句话定位：</a:t>
            </a:r>
            <a:r>
              <a:rPr lang="en-US" sz="1600" b="0" strike="noStrike" spc="-1" dirty="0">
                <a:solidFill>
                  <a:srgbClr val="555555"/>
                </a:solidFill>
                <a:latin typeface="Inter"/>
                <a:ea typeface="Inter"/>
              </a:rPr>
              <a:t>RSS</a:t>
            </a:r>
            <a:r>
              <a:rPr lang="zh-CN" sz="1600" b="0" strike="noStrike" spc="-1" dirty="0">
                <a:solidFill>
                  <a:srgbClr val="555555"/>
                </a:solidFill>
                <a:latin typeface="Inter"/>
                <a:ea typeface="Inter"/>
              </a:rPr>
              <a:t>驱动的开源项目发现与知识管理平台</a:t>
            </a:r>
            <a:r>
              <a:rPr lang="en-US" altLang="zh-CN" sz="1600" b="0" strike="noStrike" spc="-1" dirty="0">
                <a:solidFill>
                  <a:srgbClr val="555555"/>
                </a:solidFill>
                <a:latin typeface="Inter"/>
                <a:ea typeface="Inter"/>
              </a:rPr>
              <a:t>, </a:t>
            </a:r>
            <a:r>
              <a:rPr lang="zh-CN" altLang="en-US" sz="1600" b="0" strike="noStrike" spc="-1" dirty="0">
                <a:solidFill>
                  <a:srgbClr val="555555"/>
                </a:solidFill>
                <a:latin typeface="Inter"/>
                <a:ea typeface="Inter"/>
              </a:rPr>
              <a:t>为开源项目而优化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Quadrant 1"/>
          <p:cNvSpPr/>
          <p:nvPr/>
        </p:nvSpPr>
        <p:spPr>
          <a:xfrm>
            <a:off x="457200" y="1486080"/>
            <a:ext cx="4028760" cy="1028520"/>
          </a:xfrm>
          <a:prstGeom prst="roundRect">
            <a:avLst>
              <a:gd name="adj" fmla="val 16667"/>
            </a:avLst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FFFFFF"/>
                </a:solidFill>
                <a:latin typeface="Inter"/>
                <a:ea typeface="Inter"/>
              </a:rPr>
              <a:t>📡 </a:t>
            </a:r>
            <a:r>
              <a:rPr lang="zh-CN" sz="1800" b="1" strike="noStrike" spc="-1" dirty="0">
                <a:solidFill>
                  <a:srgbClr val="FFFFFF"/>
                </a:solidFill>
                <a:latin typeface="Inter"/>
                <a:ea typeface="Inter"/>
              </a:rPr>
              <a:t>自动收集</a:t>
            </a:r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Quadrant 2"/>
          <p:cNvSpPr/>
          <p:nvPr/>
        </p:nvSpPr>
        <p:spPr>
          <a:xfrm>
            <a:off x="4657680" y="1486080"/>
            <a:ext cx="4028760" cy="102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22333B"/>
                </a:solidFill>
                <a:latin typeface="Inter"/>
                <a:ea typeface="Inter"/>
              </a:rPr>
              <a:t>🤖 AI</a:t>
            </a:r>
            <a:r>
              <a:rPr lang="zh-CN" sz="1800" b="1" strike="noStrike" spc="-1">
                <a:solidFill>
                  <a:srgbClr val="22333B"/>
                </a:solidFill>
                <a:latin typeface="Inter"/>
                <a:ea typeface="Inter"/>
              </a:rPr>
              <a:t>解析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Quadrant 3"/>
          <p:cNvSpPr/>
          <p:nvPr/>
        </p:nvSpPr>
        <p:spPr>
          <a:xfrm>
            <a:off x="457200" y="2685960"/>
            <a:ext cx="4028760" cy="1028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22333B"/>
                </a:solidFill>
                <a:latin typeface="Inter"/>
                <a:ea typeface="Inter"/>
              </a:rPr>
              <a:t>📊 OpenDigger</a:t>
            </a:r>
            <a:r>
              <a:rPr lang="zh-CN" sz="1800" b="1" strike="noStrike" spc="-1">
                <a:solidFill>
                  <a:srgbClr val="22333B"/>
                </a:solidFill>
                <a:latin typeface="Inter"/>
                <a:ea typeface="Inter"/>
              </a:rPr>
              <a:t>洞察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Quadrant 4"/>
          <p:cNvSpPr/>
          <p:nvPr/>
        </p:nvSpPr>
        <p:spPr>
          <a:xfrm>
            <a:off x="4657680" y="2685960"/>
            <a:ext cx="4028760" cy="1028520"/>
          </a:xfrm>
          <a:prstGeom prst="roundRect">
            <a:avLst>
              <a:gd name="adj" fmla="val 16667"/>
            </a:avLst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Inter"/>
                <a:ea typeface="Inter"/>
              </a:rPr>
              <a:t>🔍 Self-RAG</a:t>
            </a:r>
            <a:r>
              <a:rPr lang="zh-CN" sz="1800" b="1" strike="noStrike" spc="-1">
                <a:solidFill>
                  <a:srgbClr val="FFFFFF"/>
                </a:solidFill>
                <a:latin typeface="Inter"/>
                <a:ea typeface="Inter"/>
              </a:rPr>
              <a:t>检索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Flow Bar"/>
          <p:cNvSpPr/>
          <p:nvPr/>
        </p:nvSpPr>
        <p:spPr>
          <a:xfrm>
            <a:off x="457200" y="4000680"/>
            <a:ext cx="8229240" cy="799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  <a:effectLst>
            <a:outerShdw blurRad="100080" dist="20160" dir="5400000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2333B"/>
                </a:solidFill>
                <a:latin typeface="Inter"/>
                <a:ea typeface="Inter"/>
              </a:rPr>
              <a:t>RSS → AI → </a:t>
            </a:r>
            <a:r>
              <a:rPr lang="zh-CN" sz="1400" b="1" strike="noStrike" spc="-1">
                <a:solidFill>
                  <a:srgbClr val="22333B"/>
                </a:solidFill>
                <a:latin typeface="Inter"/>
                <a:ea typeface="Inter"/>
              </a:rPr>
              <a:t>仓库画廊 → 问答 → 决策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/>
          <p:nvPr/>
        </p:nvSpPr>
        <p:spPr>
          <a:xfrm>
            <a:off x="457200" y="457200"/>
            <a:ext cx="8229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>
                <a:solidFill>
                  <a:srgbClr val="007B83"/>
                </a:solidFill>
                <a:latin typeface="Inter"/>
                <a:ea typeface="Inter"/>
              </a:rPr>
              <a:t>为什么选择 </a:t>
            </a:r>
            <a:r>
              <a:rPr lang="en-US" sz="3200" b="1" strike="noStrike" spc="-1">
                <a:solidFill>
                  <a:srgbClr val="007B83"/>
                </a:solidFill>
                <a:latin typeface="Inter"/>
                <a:ea typeface="Inter"/>
              </a:rPr>
              <a:t>SaveHub</a:t>
            </a:r>
            <a:r>
              <a:rPr lang="zh-CN" sz="3200" b="1" strike="noStrike" spc="-1">
                <a:solidFill>
                  <a:srgbClr val="007B83"/>
                </a:solidFill>
                <a:latin typeface="Inter"/>
                <a:ea typeface="Inter"/>
              </a:rPr>
              <a:t>？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Header1"/>
          <p:cNvSpPr/>
          <p:nvPr/>
        </p:nvSpPr>
        <p:spPr>
          <a:xfrm>
            <a:off x="457200" y="114300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0" strike="noStrike" spc="-1">
                <a:solidFill>
                  <a:srgbClr val="9EA7AD"/>
                </a:solidFill>
                <a:latin typeface="Inter"/>
                <a:ea typeface="+mn-ea"/>
              </a:rPr>
              <a:t>功能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Header2"/>
          <p:cNvSpPr/>
          <p:nvPr/>
        </p:nvSpPr>
        <p:spPr>
          <a:xfrm>
            <a:off x="2514600" y="11430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0" strike="noStrike" spc="-1">
                <a:solidFill>
                  <a:srgbClr val="9EA7AD"/>
                </a:solidFill>
                <a:latin typeface="Inter"/>
                <a:ea typeface="+mn-ea"/>
              </a:rPr>
              <a:t>传统</a:t>
            </a:r>
            <a:r>
              <a:rPr lang="en-US" sz="1200" b="0" strike="noStrike" spc="-1">
                <a:solidFill>
                  <a:srgbClr val="9EA7AD"/>
                </a:solidFill>
                <a:latin typeface="Inter"/>
                <a:ea typeface="+mn-ea"/>
              </a:rPr>
              <a:t>RSS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Header3"/>
          <p:cNvSpPr/>
          <p:nvPr/>
        </p:nvSpPr>
        <p:spPr>
          <a:xfrm>
            <a:off x="4343400" y="11430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0" strike="noStrike" spc="-1">
                <a:solidFill>
                  <a:srgbClr val="9EA7AD"/>
                </a:solidFill>
                <a:latin typeface="Inter"/>
                <a:ea typeface="+mn-ea"/>
              </a:rPr>
              <a:t>知识库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Header4"/>
          <p:cNvSpPr/>
          <p:nvPr/>
        </p:nvSpPr>
        <p:spPr>
          <a:xfrm>
            <a:off x="6172200" y="1143000"/>
            <a:ext cx="2514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9EA7AD"/>
                </a:solidFill>
                <a:latin typeface="Inter"/>
                <a:ea typeface="+mn-ea"/>
              </a:rPr>
              <a:t>SaveHub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Cell1_1"/>
          <p:cNvSpPr/>
          <p:nvPr/>
        </p:nvSpPr>
        <p:spPr>
          <a:xfrm>
            <a:off x="457200" y="1600200"/>
            <a:ext cx="2057040" cy="571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007B83"/>
                </a:solidFill>
                <a:latin typeface="Inter"/>
                <a:ea typeface="+mn-ea"/>
              </a:rPr>
              <a:t>自动收集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Cell1_2"/>
          <p:cNvSpPr/>
          <p:nvPr/>
        </p:nvSpPr>
        <p:spPr>
          <a:xfrm>
            <a:off x="2514600" y="1600200"/>
            <a:ext cx="1828440" cy="57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E74C3C"/>
                </a:solidFill>
                <a:latin typeface="Inter"/>
                <a:ea typeface="+mn-ea"/>
              </a:rPr>
              <a:t>❌ </a:t>
            </a:r>
            <a:r>
              <a:rPr lang="zh-CN" sz="1400" b="0" strike="noStrike" spc="-1">
                <a:solidFill>
                  <a:srgbClr val="E74C3C"/>
                </a:solidFill>
                <a:latin typeface="Inter"/>
                <a:ea typeface="+mn-ea"/>
              </a:rPr>
              <a:t>手动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Cell1_3"/>
          <p:cNvSpPr/>
          <p:nvPr/>
        </p:nvSpPr>
        <p:spPr>
          <a:xfrm>
            <a:off x="4343400" y="1600200"/>
            <a:ext cx="1828440" cy="57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E74C3C"/>
                </a:solidFill>
                <a:latin typeface="Inter"/>
                <a:ea typeface="+mn-ea"/>
              </a:rPr>
              <a:t>❌ </a:t>
            </a:r>
            <a:r>
              <a:rPr lang="zh-CN" sz="1400" b="0" strike="noStrike" spc="-1">
                <a:solidFill>
                  <a:srgbClr val="E74C3C"/>
                </a:solidFill>
                <a:latin typeface="Inter"/>
                <a:ea typeface="+mn-ea"/>
              </a:rPr>
              <a:t>手动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Cell1_4"/>
          <p:cNvSpPr/>
          <p:nvPr/>
        </p:nvSpPr>
        <p:spPr>
          <a:xfrm>
            <a:off x="6172200" y="1600200"/>
            <a:ext cx="2514240" cy="571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7B83"/>
                </a:solidFill>
                <a:latin typeface="Inter"/>
                <a:ea typeface="+mn-ea"/>
              </a:rPr>
              <a:t>✅ </a:t>
            </a:r>
            <a:r>
              <a:rPr lang="en-US" sz="800" b="1" strike="noStrike" spc="-1" dirty="0">
                <a:solidFill>
                  <a:srgbClr val="007B83"/>
                </a:solidFill>
                <a:latin typeface="Inter"/>
                <a:ea typeface="+mn-ea"/>
              </a:rPr>
              <a:t>RSS</a:t>
            </a:r>
            <a:r>
              <a:rPr lang="zh-CN" sz="800" b="1" strike="noStrike" spc="-1" dirty="0">
                <a:solidFill>
                  <a:srgbClr val="007B83"/>
                </a:solidFill>
                <a:latin typeface="Inter"/>
                <a:ea typeface="+mn-ea"/>
              </a:rPr>
              <a:t>生态</a:t>
            </a:r>
            <a:r>
              <a:rPr lang="en-US" altLang="zh-CN" sz="800" b="1" strike="noStrike" spc="-1" dirty="0">
                <a:solidFill>
                  <a:srgbClr val="007B83"/>
                </a:solidFill>
                <a:latin typeface="Inter"/>
                <a:ea typeface="+mn-ea"/>
              </a:rPr>
              <a:t>(</a:t>
            </a:r>
            <a:r>
              <a:rPr lang="zh-CN" altLang="en-US" sz="800" b="1" strike="noStrike" spc="-1" dirty="0">
                <a:solidFill>
                  <a:srgbClr val="007B83"/>
                </a:solidFill>
                <a:latin typeface="Inter"/>
                <a:ea typeface="+mn-ea"/>
              </a:rPr>
              <a:t>支持上千平台自动获取信息</a:t>
            </a:r>
            <a:r>
              <a:rPr lang="en-US" altLang="zh-CN" sz="800" b="1" strike="noStrike" spc="-1" dirty="0">
                <a:solidFill>
                  <a:srgbClr val="007B83"/>
                </a:solidFill>
                <a:latin typeface="Inter"/>
                <a:ea typeface="+mn-ea"/>
              </a:rPr>
              <a:t>)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Cell2_1"/>
          <p:cNvSpPr/>
          <p:nvPr/>
        </p:nvSpPr>
        <p:spPr>
          <a:xfrm>
            <a:off x="457200" y="2286000"/>
            <a:ext cx="2057040" cy="571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007B83"/>
                </a:solidFill>
                <a:latin typeface="Inter"/>
                <a:ea typeface="+mn-ea"/>
              </a:rPr>
              <a:t>GitHub</a:t>
            </a:r>
            <a:r>
              <a:rPr lang="zh-CN" sz="1400" b="1" strike="noStrike" spc="-1">
                <a:solidFill>
                  <a:srgbClr val="007B83"/>
                </a:solidFill>
                <a:latin typeface="Inter"/>
                <a:ea typeface="+mn-ea"/>
              </a:rPr>
              <a:t>识别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Cell2_2"/>
          <p:cNvSpPr/>
          <p:nvPr/>
        </p:nvSpPr>
        <p:spPr>
          <a:xfrm>
            <a:off x="2514600" y="2286000"/>
            <a:ext cx="1828440" cy="57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E74C3C"/>
                </a:solidFill>
                <a:latin typeface="Inter"/>
                <a:ea typeface="+mn-ea"/>
              </a:rPr>
              <a:t>❌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Cell2_3"/>
          <p:cNvSpPr/>
          <p:nvPr/>
        </p:nvSpPr>
        <p:spPr>
          <a:xfrm>
            <a:off x="4343400" y="2286000"/>
            <a:ext cx="1828440" cy="57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E74C3C"/>
                </a:solidFill>
                <a:latin typeface="Inter"/>
                <a:ea typeface="+mn-ea"/>
              </a:rPr>
              <a:t>❌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Cell2_4"/>
          <p:cNvSpPr/>
          <p:nvPr/>
        </p:nvSpPr>
        <p:spPr>
          <a:xfrm>
            <a:off x="6172200" y="2286000"/>
            <a:ext cx="2514240" cy="571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7B83"/>
                </a:solidFill>
                <a:latin typeface="Inter"/>
                <a:ea typeface="+mn-ea"/>
              </a:rPr>
              <a:t>✅ AI</a:t>
            </a:r>
            <a:r>
              <a:rPr lang="zh-CN" sz="1400" b="1" strike="noStrike" spc="-1" dirty="0">
                <a:solidFill>
                  <a:srgbClr val="007B83"/>
                </a:solidFill>
                <a:latin typeface="Inter"/>
                <a:ea typeface="+mn-ea"/>
              </a:rPr>
              <a:t>解析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Cell3_1"/>
          <p:cNvSpPr/>
          <p:nvPr/>
        </p:nvSpPr>
        <p:spPr>
          <a:xfrm>
            <a:off x="457200" y="2971800"/>
            <a:ext cx="2057040" cy="571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007B83"/>
                </a:solidFill>
                <a:latin typeface="Inter"/>
                <a:ea typeface="+mn-ea"/>
              </a:rPr>
              <a:t>语义搜索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ell3_2"/>
          <p:cNvSpPr/>
          <p:nvPr/>
        </p:nvSpPr>
        <p:spPr>
          <a:xfrm>
            <a:off x="2514600" y="2971800"/>
            <a:ext cx="1828440" cy="57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E74C3C"/>
                </a:solidFill>
                <a:latin typeface="Inter"/>
                <a:ea typeface="+mn-ea"/>
              </a:rPr>
              <a:t>❌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Cell3_3"/>
          <p:cNvSpPr/>
          <p:nvPr/>
        </p:nvSpPr>
        <p:spPr>
          <a:xfrm>
            <a:off x="4343400" y="2971800"/>
            <a:ext cx="1828440" cy="57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2333B"/>
                </a:solidFill>
                <a:latin typeface="Inter"/>
                <a:ea typeface="+mn-ea"/>
              </a:rPr>
              <a:t>部分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ell3_4"/>
          <p:cNvSpPr/>
          <p:nvPr/>
        </p:nvSpPr>
        <p:spPr>
          <a:xfrm>
            <a:off x="6172200" y="2971800"/>
            <a:ext cx="2514240" cy="571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007B83"/>
                </a:solidFill>
                <a:latin typeface="Inter"/>
                <a:ea typeface="+mn-ea"/>
              </a:rPr>
              <a:t>✅ Self-RAG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Cell4_1"/>
          <p:cNvSpPr/>
          <p:nvPr/>
        </p:nvSpPr>
        <p:spPr>
          <a:xfrm>
            <a:off x="457200" y="3657600"/>
            <a:ext cx="2057040" cy="571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007B83"/>
                </a:solidFill>
                <a:latin typeface="Inter"/>
                <a:ea typeface="+mn-ea"/>
              </a:rPr>
              <a:t>项目分析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Cell4_2"/>
          <p:cNvSpPr/>
          <p:nvPr/>
        </p:nvSpPr>
        <p:spPr>
          <a:xfrm>
            <a:off x="2514600" y="3657600"/>
            <a:ext cx="1828440" cy="57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E74C3C"/>
                </a:solidFill>
                <a:latin typeface="Inter"/>
                <a:ea typeface="+mn-ea"/>
              </a:rPr>
              <a:t>❌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ell4_3"/>
          <p:cNvSpPr/>
          <p:nvPr/>
        </p:nvSpPr>
        <p:spPr>
          <a:xfrm>
            <a:off x="4343400" y="3657600"/>
            <a:ext cx="1828440" cy="57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E74C3C"/>
                </a:solidFill>
                <a:latin typeface="Inter"/>
                <a:ea typeface="+mn-ea"/>
              </a:rPr>
              <a:t>❌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Cell4_4"/>
          <p:cNvSpPr/>
          <p:nvPr/>
        </p:nvSpPr>
        <p:spPr>
          <a:xfrm>
            <a:off x="6172200" y="3657600"/>
            <a:ext cx="2514240" cy="5713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2700">
            <a:solidFill>
              <a:srgbClr val="EEEE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91440" rIns="171360" bIns="9144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007B83"/>
                </a:solidFill>
                <a:latin typeface="Inter"/>
                <a:ea typeface="+mn-ea"/>
              </a:rPr>
              <a:t>✅ OpenDigger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"/>
          <p:cNvSpPr/>
          <p:nvPr/>
        </p:nvSpPr>
        <p:spPr>
          <a:xfrm>
            <a:off x="457200" y="457200"/>
            <a:ext cx="8229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007B83"/>
                </a:solidFill>
                <a:latin typeface="Inter"/>
                <a:ea typeface="Inter"/>
              </a:rPr>
              <a:t>AI </a:t>
            </a:r>
            <a:r>
              <a:rPr lang="zh-CN" sz="3200" b="1" strike="noStrike" spc="-1">
                <a:solidFill>
                  <a:srgbClr val="007B83"/>
                </a:solidFill>
                <a:latin typeface="Inter"/>
                <a:ea typeface="Inter"/>
              </a:rPr>
              <a:t>自动识别：不放过任何开源宝藏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Item 1 Box"/>
          <p:cNvSpPr/>
          <p:nvPr/>
        </p:nvSpPr>
        <p:spPr>
          <a:xfrm>
            <a:off x="457200" y="1371600"/>
            <a:ext cx="388584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1680" tIns="171360" rIns="171360" bIns="171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strike="noStrike" spc="-1">
                <a:solidFill>
                  <a:srgbClr val="22333B"/>
                </a:solidFill>
                <a:latin typeface="Inter"/>
                <a:ea typeface="Inter"/>
              </a:rPr>
              <a:t>文本解析：正则</a:t>
            </a:r>
            <a:r>
              <a:rPr lang="en-US" sz="1600" b="0" strike="noStrike" spc="-1">
                <a:solidFill>
                  <a:srgbClr val="22333B"/>
                </a:solidFill>
                <a:latin typeface="Inter"/>
                <a:ea typeface="Inter"/>
              </a:rPr>
              <a:t>+LLM</a:t>
            </a:r>
            <a:r>
              <a:rPr lang="zh-CN" sz="1600" b="0" strike="noStrike" spc="-1">
                <a:solidFill>
                  <a:srgbClr val="22333B"/>
                </a:solidFill>
                <a:latin typeface="Inter"/>
                <a:ea typeface="Inter"/>
              </a:rPr>
              <a:t>抽取 </a:t>
            </a:r>
            <a:r>
              <a:rPr lang="en-US" sz="1600" b="0" strike="noStrike" spc="-1">
                <a:solidFill>
                  <a:srgbClr val="22333B"/>
                </a:solidFill>
                <a:latin typeface="Inter"/>
                <a:ea typeface="Inter"/>
              </a:rPr>
              <a:t>GitHub </a:t>
            </a:r>
            <a:r>
              <a:rPr lang="zh-CN" sz="1600" b="0" strike="noStrike" spc="-1">
                <a:solidFill>
                  <a:srgbClr val="22333B"/>
                </a:solidFill>
                <a:latin typeface="Inter"/>
                <a:ea typeface="Inter"/>
              </a:rPr>
              <a:t>链接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Bullet 1"/>
          <p:cNvSpPr/>
          <p:nvPr/>
        </p:nvSpPr>
        <p:spPr>
          <a:xfrm>
            <a:off x="628560" y="1600200"/>
            <a:ext cx="114120" cy="114120"/>
          </a:xfrm>
          <a:prstGeom prst="ellipse">
            <a:avLst/>
          </a:prstGeom>
          <a:solidFill>
            <a:srgbClr val="C8D4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36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Item 2 Box"/>
          <p:cNvSpPr/>
          <p:nvPr/>
        </p:nvSpPr>
        <p:spPr>
          <a:xfrm>
            <a:off x="457200" y="2343240"/>
            <a:ext cx="388584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1680" tIns="171360" rIns="171360" bIns="171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strike="noStrike" spc="-1">
                <a:solidFill>
                  <a:srgbClr val="22333B"/>
                </a:solidFill>
                <a:latin typeface="Inter"/>
                <a:ea typeface="Inter"/>
              </a:rPr>
              <a:t>图片识别：</a:t>
            </a:r>
            <a:r>
              <a:rPr lang="en-US" sz="1600" b="0" strike="noStrike" spc="-1">
                <a:solidFill>
                  <a:srgbClr val="22333B"/>
                </a:solidFill>
                <a:latin typeface="Inter"/>
                <a:ea typeface="Inter"/>
              </a:rPr>
              <a:t>Vision API </a:t>
            </a:r>
            <a:r>
              <a:rPr lang="zh-CN" sz="1600" b="0" strike="noStrike" spc="-1">
                <a:solidFill>
                  <a:srgbClr val="22333B"/>
                </a:solidFill>
                <a:latin typeface="Inter"/>
                <a:ea typeface="Inter"/>
              </a:rPr>
              <a:t>解析截图中的仓库信息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Bullet 2"/>
          <p:cNvSpPr/>
          <p:nvPr/>
        </p:nvSpPr>
        <p:spPr>
          <a:xfrm>
            <a:off x="628560" y="2571840"/>
            <a:ext cx="114120" cy="114120"/>
          </a:xfrm>
          <a:prstGeom prst="ellipse">
            <a:avLst/>
          </a:prstGeom>
          <a:solidFill>
            <a:srgbClr val="C8D4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36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Item 3 Box"/>
          <p:cNvSpPr/>
          <p:nvPr/>
        </p:nvSpPr>
        <p:spPr>
          <a:xfrm>
            <a:off x="457200" y="3314880"/>
            <a:ext cx="388584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71680" tIns="171360" rIns="171360" bIns="171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strike="noStrike" spc="-1">
                <a:solidFill>
                  <a:srgbClr val="22333B"/>
                </a:solidFill>
                <a:latin typeface="Inter"/>
                <a:ea typeface="Inter"/>
              </a:rPr>
              <a:t>智能标签：自动提取语言、用途、</a:t>
            </a:r>
            <a:r>
              <a:rPr lang="en-US" sz="1600" b="0" strike="noStrike" spc="-1">
                <a:solidFill>
                  <a:srgbClr val="22333B"/>
                </a:solidFill>
                <a:latin typeface="Inter"/>
                <a:ea typeface="Inter"/>
              </a:rPr>
              <a:t>Star </a:t>
            </a:r>
            <a:r>
              <a:rPr lang="zh-CN" sz="1600" b="0" strike="noStrike" spc="-1">
                <a:solidFill>
                  <a:srgbClr val="22333B"/>
                </a:solidFill>
                <a:latin typeface="Inter"/>
                <a:ea typeface="Inter"/>
              </a:rPr>
              <a:t>趋势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Bullet 3"/>
          <p:cNvSpPr/>
          <p:nvPr/>
        </p:nvSpPr>
        <p:spPr>
          <a:xfrm>
            <a:off x="628560" y="3543480"/>
            <a:ext cx="114120" cy="114120"/>
          </a:xfrm>
          <a:prstGeom prst="ellipse">
            <a:avLst/>
          </a:prstGeom>
          <a:solidFill>
            <a:srgbClr val="C8D4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36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Caption"/>
          <p:cNvSpPr/>
          <p:nvPr/>
        </p:nvSpPr>
        <p:spPr>
          <a:xfrm>
            <a:off x="4915080" y="3999960"/>
            <a:ext cx="34286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200" b="0" strike="noStrike" spc="-1" dirty="0">
                <a:solidFill>
                  <a:srgbClr val="9EA7AD"/>
                </a:solidFill>
                <a:latin typeface="Inter"/>
                <a:ea typeface="Inter"/>
              </a:rPr>
              <a:t>截图：文章页右侧浮现卡片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442D2-B352-B1CA-471E-43CF9827D8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02113"/>
            <a:ext cx="4396234" cy="28978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/>
          <p:nvPr/>
        </p:nvSpPr>
        <p:spPr>
          <a:xfrm>
            <a:off x="457200" y="457200"/>
            <a:ext cx="8229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>
                <a:solidFill>
                  <a:srgbClr val="007B83"/>
                </a:solidFill>
                <a:latin typeface="Inter"/>
                <a:ea typeface="Inter"/>
              </a:rPr>
              <a:t>深度分析：一眼看穿项目健康度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Card 1 Bg"/>
          <p:cNvSpPr/>
          <p:nvPr/>
        </p:nvSpPr>
        <p:spPr>
          <a:xfrm>
            <a:off x="457200" y="1257480"/>
            <a:ext cx="258300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100080" dist="3996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9EA7AD"/>
                </a:solidFill>
                <a:latin typeface="Inter"/>
              </a:rPr>
              <a:t>活跃度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22333B"/>
                </a:solidFill>
                <a:latin typeface="Inter"/>
              </a:rPr>
              <a:t>↑ </a:t>
            </a:r>
            <a:r>
              <a:rPr lang="zh-CN" sz="2400" b="1" strike="noStrike" spc="-1">
                <a:solidFill>
                  <a:srgbClr val="22333B"/>
                </a:solidFill>
                <a:latin typeface="Inter"/>
              </a:rPr>
              <a:t>近</a:t>
            </a:r>
            <a:r>
              <a:rPr lang="en-US" sz="2400" b="1" strike="noStrike" spc="-1">
                <a:solidFill>
                  <a:srgbClr val="22333B"/>
                </a:solidFill>
                <a:latin typeface="Inter"/>
              </a:rPr>
              <a:t>30</a:t>
            </a:r>
            <a:r>
              <a:rPr lang="zh-CN" sz="2400" b="1" strike="noStrike" spc="-1">
                <a:solidFill>
                  <a:srgbClr val="22333B"/>
                </a:solidFill>
                <a:latin typeface="Inter"/>
              </a:rPr>
              <a:t>天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0" strike="noStrike" spc="-1">
                <a:solidFill>
                  <a:srgbClr val="999999"/>
                </a:solidFill>
                <a:latin typeface="Inter"/>
              </a:rPr>
              <a:t>提交热力图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Card 1 Chart"/>
          <p:cNvSpPr/>
          <p:nvPr/>
        </p:nvSpPr>
        <p:spPr>
          <a:xfrm>
            <a:off x="685800" y="2400120"/>
            <a:ext cx="2125800" cy="684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ard 1 Fill"/>
          <p:cNvSpPr/>
          <p:nvPr/>
        </p:nvSpPr>
        <p:spPr>
          <a:xfrm>
            <a:off x="685800" y="2400120"/>
            <a:ext cx="1700280" cy="68400"/>
          </a:xfrm>
          <a:prstGeom prst="rect">
            <a:avLst/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Card 2 Bg"/>
          <p:cNvSpPr/>
          <p:nvPr/>
        </p:nvSpPr>
        <p:spPr>
          <a:xfrm>
            <a:off x="3269160" y="1257480"/>
            <a:ext cx="258300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100080" dist="3996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9EA7AD"/>
                </a:solidFill>
                <a:latin typeface="Inter"/>
              </a:rPr>
              <a:t>社区健康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22333B"/>
                </a:solidFill>
                <a:latin typeface="Inter"/>
              </a:rPr>
              <a:t>Bus Factor ≥3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1000" b="0" strike="noStrike" spc="-1">
                <a:solidFill>
                  <a:srgbClr val="999999"/>
                </a:solidFill>
                <a:latin typeface="Inter"/>
              </a:rPr>
              <a:t>贡献者多样性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Card 2 Chart"/>
          <p:cNvSpPr/>
          <p:nvPr/>
        </p:nvSpPr>
        <p:spPr>
          <a:xfrm>
            <a:off x="3497760" y="2400120"/>
            <a:ext cx="2125800" cy="684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Card 2 Fill"/>
          <p:cNvSpPr/>
          <p:nvPr/>
        </p:nvSpPr>
        <p:spPr>
          <a:xfrm>
            <a:off x="3497760" y="2400120"/>
            <a:ext cx="1275120" cy="68400"/>
          </a:xfrm>
          <a:prstGeom prst="rect">
            <a:avLst/>
          </a:prstGeom>
          <a:solidFill>
            <a:srgbClr val="C8D4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ard 3 Bg"/>
          <p:cNvSpPr/>
          <p:nvPr/>
        </p:nvSpPr>
        <p:spPr>
          <a:xfrm>
            <a:off x="6080760" y="1257480"/>
            <a:ext cx="258300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100080" dist="3996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9EA7AD"/>
                </a:solidFill>
                <a:latin typeface="Inter"/>
              </a:rPr>
              <a:t>趋势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zh-CN" sz="2400" b="1" strike="noStrike" spc="-1">
                <a:solidFill>
                  <a:srgbClr val="22333B"/>
                </a:solidFill>
                <a:latin typeface="Inter"/>
              </a:rPr>
              <a:t>月增 </a:t>
            </a:r>
            <a:r>
              <a:rPr lang="en-US" sz="2400" b="1" strike="noStrike" spc="-1">
                <a:solidFill>
                  <a:srgbClr val="22333B"/>
                </a:solidFill>
                <a:latin typeface="Inter"/>
              </a:rPr>
              <a:t>15%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999999"/>
                </a:solidFill>
                <a:latin typeface="Inter"/>
              </a:rPr>
              <a:t>Star </a:t>
            </a:r>
            <a:r>
              <a:rPr lang="zh-CN" sz="1000" b="0" strike="noStrike" spc="-1">
                <a:solidFill>
                  <a:srgbClr val="999999"/>
                </a:solidFill>
                <a:latin typeface="Inter"/>
              </a:rPr>
              <a:t>增长曲线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Card 3 Chart"/>
          <p:cNvSpPr/>
          <p:nvPr/>
        </p:nvSpPr>
        <p:spPr>
          <a:xfrm>
            <a:off x="6309360" y="2400120"/>
            <a:ext cx="2125800" cy="6840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Card 3 Fill"/>
          <p:cNvSpPr/>
          <p:nvPr/>
        </p:nvSpPr>
        <p:spPr>
          <a:xfrm>
            <a:off x="6309360" y="2400120"/>
            <a:ext cx="849960" cy="68400"/>
          </a:xfrm>
          <a:prstGeom prst="rect">
            <a:avLst/>
          </a:prstGeom>
          <a:solidFill>
            <a:srgbClr val="E8A3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Footer"/>
          <p:cNvSpPr/>
          <p:nvPr/>
        </p:nvSpPr>
        <p:spPr>
          <a:xfrm>
            <a:off x="457200" y="4000680"/>
            <a:ext cx="8229240" cy="685440"/>
          </a:xfrm>
          <a:prstGeom prst="roundRect">
            <a:avLst>
              <a:gd name="adj" fmla="val 16667"/>
            </a:avLst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171360" rIns="171360" bIns="1713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Inter"/>
              </a:rPr>
              <a:t>→ </a:t>
            </a:r>
            <a:r>
              <a:rPr lang="zh-CN" sz="1800" b="1" strike="noStrike" spc="-1">
                <a:solidFill>
                  <a:srgbClr val="FFFFFF"/>
                </a:solidFill>
                <a:latin typeface="Inter"/>
              </a:rPr>
              <a:t>价值：</a:t>
            </a:r>
            <a:r>
              <a:rPr lang="en-US" sz="1800" b="1" strike="noStrike" spc="-1">
                <a:solidFill>
                  <a:srgbClr val="FFFFFF"/>
                </a:solidFill>
                <a:latin typeface="Inter"/>
              </a:rPr>
              <a:t>10 </a:t>
            </a:r>
            <a:r>
              <a:rPr lang="zh-CN" sz="1800" b="1" strike="noStrike" spc="-1">
                <a:solidFill>
                  <a:srgbClr val="FFFFFF"/>
                </a:solidFill>
                <a:latin typeface="Inter"/>
              </a:rPr>
              <a:t>秒决定“值不值得深入”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"/>
          <p:cNvSpPr/>
          <p:nvPr/>
        </p:nvSpPr>
        <p:spPr>
          <a:xfrm>
            <a:off x="457200" y="457200"/>
            <a:ext cx="8229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>
                <a:solidFill>
                  <a:srgbClr val="007B83"/>
                </a:solidFill>
                <a:latin typeface="Inter"/>
              </a:rPr>
              <a:t>一键盘活你的 </a:t>
            </a:r>
            <a:r>
              <a:rPr lang="en-US" sz="3200" b="1" strike="noStrike" spc="-1">
                <a:solidFill>
                  <a:srgbClr val="007B83"/>
                </a:solidFill>
                <a:latin typeface="Inter"/>
              </a:rPr>
              <a:t>Star </a:t>
            </a:r>
            <a:r>
              <a:rPr lang="zh-CN" sz="3200" b="1" strike="noStrike" spc="-1">
                <a:solidFill>
                  <a:srgbClr val="007B83"/>
                </a:solidFill>
                <a:latin typeface="Inter"/>
              </a:rPr>
              <a:t>资产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rocessItem1Bg"/>
          <p:cNvSpPr/>
          <p:nvPr/>
        </p:nvSpPr>
        <p:spPr>
          <a:xfrm>
            <a:off x="457200" y="1143000"/>
            <a:ext cx="822924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149" name="StepNum1"/>
          <p:cNvSpPr/>
          <p:nvPr/>
        </p:nvSpPr>
        <p:spPr>
          <a:xfrm>
            <a:off x="685800" y="1285920"/>
            <a:ext cx="342720" cy="342720"/>
          </a:xfrm>
          <a:prstGeom prst="ellipse">
            <a:avLst/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FFFFFF"/>
                </a:solidFill>
                <a:latin typeface="Inter"/>
              </a:rPr>
              <a:t>1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tepText1"/>
          <p:cNvSpPr/>
          <p:nvPr/>
        </p:nvSpPr>
        <p:spPr>
          <a:xfrm>
            <a:off x="1143000" y="1314360"/>
            <a:ext cx="73148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1600" spc="-1" dirty="0" err="1">
                <a:solidFill>
                  <a:srgbClr val="22333B"/>
                </a:solidFill>
                <a:latin typeface="Inter"/>
              </a:rPr>
              <a:t>Github</a:t>
            </a:r>
            <a:r>
              <a:rPr lang="en-US" altLang="zh-CN" sz="1600" spc="-1" dirty="0">
                <a:solidFill>
                  <a:srgbClr val="22333B"/>
                </a:solidFill>
                <a:latin typeface="Inter"/>
              </a:rPr>
              <a:t> token</a:t>
            </a:r>
            <a:r>
              <a:rPr lang="en-US" sz="1600" b="0" strike="noStrike" spc="-1" dirty="0">
                <a:solidFill>
                  <a:srgbClr val="22333B"/>
                </a:solidFill>
                <a:latin typeface="Inter"/>
              </a:rPr>
              <a:t> </a:t>
            </a:r>
            <a:r>
              <a:rPr lang="zh-CN" sz="1600" b="0" strike="noStrike" spc="-1" dirty="0">
                <a:solidFill>
                  <a:srgbClr val="22333B"/>
                </a:solidFill>
                <a:latin typeface="Inter"/>
              </a:rPr>
              <a:t>授权 → </a:t>
            </a:r>
            <a:r>
              <a:rPr lang="zh-CN" altLang="en-US" sz="1600" spc="-1" dirty="0">
                <a:solidFill>
                  <a:srgbClr val="22333B"/>
                </a:solidFill>
                <a:latin typeface="Inter"/>
              </a:rPr>
              <a:t>解锁速率限制</a:t>
            </a:r>
            <a:r>
              <a:rPr lang="en-US" altLang="zh-CN" sz="1600" spc="-1" dirty="0">
                <a:solidFill>
                  <a:srgbClr val="22333B"/>
                </a:solidFill>
                <a:latin typeface="Inter"/>
              </a:rPr>
              <a:t>, </a:t>
            </a:r>
            <a:r>
              <a:rPr lang="zh-CN" altLang="en-US" sz="1600" spc="-1" dirty="0">
                <a:solidFill>
                  <a:srgbClr val="22333B"/>
                </a:solidFill>
                <a:latin typeface="Inter"/>
              </a:rPr>
              <a:t>解析所有</a:t>
            </a:r>
            <a:r>
              <a:rPr lang="en-US" altLang="zh-CN" sz="1600" spc="-1" dirty="0">
                <a:solidFill>
                  <a:srgbClr val="22333B"/>
                </a:solidFill>
                <a:latin typeface="Inter"/>
              </a:rPr>
              <a:t>star</a:t>
            </a:r>
            <a:r>
              <a:rPr lang="zh-CN" altLang="en-US" sz="1600" spc="-1" dirty="0">
                <a:solidFill>
                  <a:srgbClr val="22333B"/>
                </a:solidFill>
                <a:latin typeface="Inter"/>
              </a:rPr>
              <a:t>项目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rocessItem2Bg"/>
          <p:cNvSpPr/>
          <p:nvPr/>
        </p:nvSpPr>
        <p:spPr>
          <a:xfrm>
            <a:off x="457200" y="1940293"/>
            <a:ext cx="822924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152" name="StepNum2"/>
          <p:cNvSpPr/>
          <p:nvPr/>
        </p:nvSpPr>
        <p:spPr>
          <a:xfrm>
            <a:off x="685800" y="2143080"/>
            <a:ext cx="342720" cy="342720"/>
          </a:xfrm>
          <a:prstGeom prst="ellipse">
            <a:avLst/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FFFFFF"/>
                </a:solidFill>
                <a:latin typeface="Inter"/>
              </a:rPr>
              <a:t>2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tepText2"/>
          <p:cNvSpPr/>
          <p:nvPr/>
        </p:nvSpPr>
        <p:spPr>
          <a:xfrm>
            <a:off x="1086120" y="2168893"/>
            <a:ext cx="73148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22333B"/>
                </a:solidFill>
                <a:latin typeface="Inter"/>
              </a:rPr>
              <a:t>AI </a:t>
            </a:r>
            <a:r>
              <a:rPr lang="zh-CN" sz="1600" b="0" strike="noStrike" spc="-1" dirty="0">
                <a:solidFill>
                  <a:srgbClr val="22333B"/>
                </a:solidFill>
                <a:latin typeface="Inter"/>
              </a:rPr>
              <a:t>批量阅读 </a:t>
            </a:r>
            <a:r>
              <a:rPr lang="en-US" sz="1600" b="0" strike="noStrike" spc="-1" dirty="0">
                <a:solidFill>
                  <a:srgbClr val="22333B"/>
                </a:solidFill>
                <a:latin typeface="Inter"/>
              </a:rPr>
              <a:t>README → </a:t>
            </a:r>
            <a:r>
              <a:rPr lang="zh-CN" sz="1600" b="0" strike="noStrike" spc="-1" dirty="0">
                <a:solidFill>
                  <a:srgbClr val="22333B"/>
                </a:solidFill>
                <a:latin typeface="Inter"/>
              </a:rPr>
              <a:t>生成摘要 </a:t>
            </a:r>
            <a:r>
              <a:rPr lang="en-US" sz="1600" b="0" strike="noStrike" spc="-1" dirty="0">
                <a:solidFill>
                  <a:srgbClr val="22333B"/>
                </a:solidFill>
                <a:latin typeface="Inter"/>
              </a:rPr>
              <a:t>+ </a:t>
            </a:r>
            <a:r>
              <a:rPr lang="zh-CN" sz="1600" b="0" strike="noStrike" spc="-1" dirty="0">
                <a:solidFill>
                  <a:srgbClr val="22333B"/>
                </a:solidFill>
                <a:latin typeface="Inter"/>
              </a:rPr>
              <a:t>标签</a:t>
            </a:r>
            <a:r>
              <a:rPr lang="en-US" altLang="zh-CN" sz="1600" b="0" strike="noStrike" spc="-1" dirty="0">
                <a:solidFill>
                  <a:srgbClr val="22333B"/>
                </a:solidFill>
                <a:latin typeface="Inter"/>
              </a:rPr>
              <a:t> -&gt; Embedding -&gt; RAG</a:t>
            </a:r>
            <a:r>
              <a:rPr lang="zh-CN" altLang="en-US" sz="1600" b="0" strike="noStrike" spc="-1" dirty="0">
                <a:solidFill>
                  <a:srgbClr val="22333B"/>
                </a:solidFill>
                <a:latin typeface="Inter"/>
              </a:rPr>
              <a:t>检索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rocessItem3Bg"/>
          <p:cNvSpPr/>
          <p:nvPr/>
        </p:nvSpPr>
        <p:spPr>
          <a:xfrm>
            <a:off x="457200" y="2857680"/>
            <a:ext cx="822924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155" name="StepNum3"/>
          <p:cNvSpPr/>
          <p:nvPr/>
        </p:nvSpPr>
        <p:spPr>
          <a:xfrm>
            <a:off x="685800" y="3000240"/>
            <a:ext cx="342720" cy="342720"/>
          </a:xfrm>
          <a:prstGeom prst="ellipse">
            <a:avLst/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FFFFFF"/>
                </a:solidFill>
                <a:latin typeface="Inter"/>
              </a:rPr>
              <a:t>3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tepText3"/>
          <p:cNvSpPr/>
          <p:nvPr/>
        </p:nvSpPr>
        <p:spPr>
          <a:xfrm>
            <a:off x="1143000" y="3086280"/>
            <a:ext cx="73148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0" strike="noStrike" spc="-1" dirty="0">
                <a:solidFill>
                  <a:srgbClr val="22333B"/>
                </a:solidFill>
                <a:latin typeface="Inter"/>
              </a:rPr>
              <a:t>自动分类：</a:t>
            </a:r>
            <a:r>
              <a:rPr lang="en-US" sz="1600" b="0" strike="noStrike" spc="-1" dirty="0">
                <a:solidFill>
                  <a:srgbClr val="22333B"/>
                </a:solidFill>
                <a:latin typeface="Inter"/>
              </a:rPr>
              <a:t>Web/AI/</a:t>
            </a:r>
            <a:r>
              <a:rPr lang="zh-CN" sz="1600" b="0" strike="noStrike" spc="-1" dirty="0">
                <a:solidFill>
                  <a:srgbClr val="22333B"/>
                </a:solidFill>
                <a:latin typeface="Inter"/>
              </a:rPr>
              <a:t>工具</a:t>
            </a:r>
            <a:r>
              <a:rPr lang="en-US" sz="1600" b="0" strike="noStrike" spc="-1" dirty="0">
                <a:solidFill>
                  <a:srgbClr val="22333B"/>
                </a:solidFill>
                <a:latin typeface="Inter"/>
              </a:rPr>
              <a:t>/</a:t>
            </a:r>
            <a:r>
              <a:rPr lang="zh-CN" sz="1600" b="0" strike="noStrike" spc="-1" dirty="0">
                <a:solidFill>
                  <a:srgbClr val="22333B"/>
                </a:solidFill>
                <a:latin typeface="Inter"/>
              </a:rPr>
              <a:t>库…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QuoteBoxBg"/>
          <p:cNvSpPr/>
          <p:nvPr/>
        </p:nvSpPr>
        <p:spPr>
          <a:xfrm>
            <a:off x="457200" y="3772080"/>
            <a:ext cx="8229240" cy="1142640"/>
          </a:xfrm>
          <a:prstGeom prst="rect">
            <a:avLst/>
          </a:prstGeom>
          <a:solidFill>
            <a:srgbClr val="22333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158" name="QuoteBorder"/>
          <p:cNvSpPr/>
          <p:nvPr/>
        </p:nvSpPr>
        <p:spPr>
          <a:xfrm>
            <a:off x="457200" y="3772080"/>
            <a:ext cx="56880" cy="1142640"/>
          </a:xfrm>
          <a:prstGeom prst="rect">
            <a:avLst/>
          </a:prstGeom>
          <a:solidFill>
            <a:srgbClr val="C8D4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Inter"/>
            </a:endParaRPr>
          </a:p>
        </p:txBody>
      </p:sp>
      <p:sp>
        <p:nvSpPr>
          <p:cNvPr id="159" name="QuoteText"/>
          <p:cNvSpPr/>
          <p:nvPr/>
        </p:nvSpPr>
        <p:spPr>
          <a:xfrm>
            <a:off x="743040" y="3886200"/>
            <a:ext cx="7657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strike="noStrike" spc="-1" dirty="0">
                <a:solidFill>
                  <a:srgbClr val="FFFFFF"/>
                </a:solidFill>
                <a:latin typeface="Inter"/>
              </a:rPr>
              <a:t>“</a:t>
            </a:r>
            <a:r>
              <a:rPr lang="zh-CN" sz="1800" b="1" i="1" strike="noStrike" spc="-1" dirty="0">
                <a:solidFill>
                  <a:srgbClr val="FFFFFF"/>
                </a:solidFill>
                <a:latin typeface="Inter"/>
              </a:rPr>
              <a:t>终于知道那 </a:t>
            </a:r>
            <a:r>
              <a:rPr lang="en-US" sz="1800" b="1" i="1" strike="noStrike" spc="-1" dirty="0">
                <a:solidFill>
                  <a:srgbClr val="FFFFFF"/>
                </a:solidFill>
                <a:latin typeface="Inter"/>
              </a:rPr>
              <a:t>2000 </a:t>
            </a:r>
            <a:r>
              <a:rPr lang="zh-CN" sz="1800" b="1" i="1" strike="noStrike" spc="-1" dirty="0">
                <a:solidFill>
                  <a:srgbClr val="FFFFFF"/>
                </a:solidFill>
                <a:latin typeface="Inter"/>
              </a:rPr>
              <a:t>个仓库是干嘛的！”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9EA7AD"/>
                </a:solidFill>
                <a:latin typeface="Inter"/>
              </a:rPr>
              <a:t>User Feedback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"/>
          <p:cNvSpPr/>
          <p:nvPr/>
        </p:nvSpPr>
        <p:spPr>
          <a:xfrm>
            <a:off x="537743" y="35534"/>
            <a:ext cx="8229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 dirty="0">
                <a:solidFill>
                  <a:srgbClr val="007B83"/>
                </a:solidFill>
                <a:latin typeface="Inter"/>
                <a:ea typeface="+mn-ea"/>
              </a:rPr>
              <a:t>仓库画廊：私人开源博物馆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CAFF4-C7E5-20FC-ABCC-D523D77D83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00" y="563800"/>
            <a:ext cx="6644798" cy="43800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/>
          <p:nvPr/>
        </p:nvSpPr>
        <p:spPr>
          <a:xfrm>
            <a:off x="457200" y="457200"/>
            <a:ext cx="8229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>
                <a:solidFill>
                  <a:srgbClr val="007B83"/>
                </a:solidFill>
                <a:latin typeface="Inter"/>
                <a:ea typeface="Inter"/>
              </a:rPr>
              <a:t>Self-RAG</a:t>
            </a:r>
            <a:r>
              <a:rPr lang="zh-CN" sz="3200" b="1" strike="noStrike" spc="-1">
                <a:solidFill>
                  <a:srgbClr val="007B83"/>
                </a:solidFill>
                <a:latin typeface="Inter"/>
                <a:ea typeface="Inter"/>
              </a:rPr>
              <a:t>：更聪明的检索，更少幻觉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Left Box"/>
          <p:cNvSpPr/>
          <p:nvPr/>
        </p:nvSpPr>
        <p:spPr>
          <a:xfrm>
            <a:off x="457200" y="1257480"/>
            <a:ext cx="4000320" cy="1828440"/>
          </a:xfrm>
          <a:prstGeom prst="roundRect">
            <a:avLst>
              <a:gd name="adj" fmla="val 16667"/>
            </a:avLst>
          </a:prstGeom>
          <a:solidFill>
            <a:srgbClr val="E0E4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1" strike="noStrike" spc="-1">
                <a:solidFill>
                  <a:srgbClr val="555555"/>
                </a:solidFill>
                <a:latin typeface="Inter"/>
              </a:rPr>
              <a:t>传统 </a:t>
            </a:r>
            <a:r>
              <a:rPr lang="en-US" sz="1400" b="1" strike="noStrike" spc="-1">
                <a:solidFill>
                  <a:srgbClr val="555555"/>
                </a:solidFill>
                <a:latin typeface="Inter"/>
              </a:rPr>
              <a:t>RAG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200" b="0" strike="noStrike" spc="-1">
                <a:solidFill>
                  <a:srgbClr val="555555"/>
                </a:solidFill>
                <a:latin typeface="Inter"/>
              </a:rPr>
              <a:t>问 → 必检索 → 噪声↑ → 幻觉风险↑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ight Box"/>
          <p:cNvSpPr/>
          <p:nvPr/>
        </p:nvSpPr>
        <p:spPr>
          <a:xfrm>
            <a:off x="4686480" y="1257480"/>
            <a:ext cx="4000320" cy="1828440"/>
          </a:xfrm>
          <a:prstGeom prst="roundRect">
            <a:avLst>
              <a:gd name="adj" fmla="val 16667"/>
            </a:avLst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Inter"/>
              </a:rPr>
              <a:t>Self-RAG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200" b="0" strike="noStrike" spc="-1">
                <a:solidFill>
                  <a:srgbClr val="FFFFFF"/>
                </a:solidFill>
                <a:latin typeface="Inter"/>
              </a:rPr>
              <a:t>问 → 自评需检索 → 可选检索 → 反思验证 → 引用溯源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Highlights Box"/>
          <p:cNvSpPr/>
          <p:nvPr/>
        </p:nvSpPr>
        <p:spPr>
          <a:xfrm>
            <a:off x="457200" y="3429000"/>
            <a:ext cx="82292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007B83"/>
                </a:solidFill>
                <a:latin typeface="Inter"/>
              </a:rPr>
              <a:t>✓ </a:t>
            </a:r>
            <a:r>
              <a:rPr lang="zh-CN" sz="1400" b="0" strike="noStrike" spc="-1">
                <a:solidFill>
                  <a:srgbClr val="22333B"/>
                </a:solidFill>
                <a:latin typeface="Inter"/>
              </a:rPr>
              <a:t>模型自主发“检索令牌”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007B83"/>
                </a:solidFill>
                <a:latin typeface="Inter"/>
              </a:rPr>
              <a:t>✓ </a:t>
            </a:r>
            <a:r>
              <a:rPr lang="zh-CN" sz="1400" b="0" strike="noStrike" spc="-1">
                <a:solidFill>
                  <a:srgbClr val="22333B"/>
                </a:solidFill>
                <a:latin typeface="Inter"/>
              </a:rPr>
              <a:t>反思令牌验证答案一致性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007B83"/>
                </a:solidFill>
                <a:latin typeface="Inter"/>
              </a:rPr>
              <a:t>✓ </a:t>
            </a:r>
            <a:r>
              <a:rPr lang="zh-CN" sz="1400" b="0" strike="noStrike" spc="-1">
                <a:solidFill>
                  <a:srgbClr val="22333B"/>
                </a:solidFill>
                <a:latin typeface="Inter"/>
              </a:rPr>
              <a:t>每条回答附“来源</a:t>
            </a:r>
            <a:r>
              <a:rPr lang="en-US" sz="1400" b="0" strike="noStrike" spc="-1">
                <a:solidFill>
                  <a:srgbClr val="22333B"/>
                </a:solidFill>
                <a:latin typeface="Inter"/>
              </a:rPr>
              <a:t>+</a:t>
            </a:r>
            <a:r>
              <a:rPr lang="zh-CN" sz="1400" b="0" strike="noStrike" spc="-1">
                <a:solidFill>
                  <a:srgbClr val="22333B"/>
                </a:solidFill>
                <a:latin typeface="Inter"/>
              </a:rPr>
              <a:t>置信度”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"/>
          <p:cNvSpPr/>
          <p:nvPr/>
        </p:nvSpPr>
        <p:spPr>
          <a:xfrm>
            <a:off x="457200" y="457200"/>
            <a:ext cx="8229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>
                <a:solidFill>
                  <a:srgbClr val="007B83"/>
                </a:solidFill>
                <a:latin typeface="Inter"/>
                <a:ea typeface="Inter"/>
              </a:rPr>
              <a:t>专为开发者优化的知识问答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riorityItem1"/>
          <p:cNvSpPr/>
          <p:nvPr/>
        </p:nvSpPr>
        <p:spPr>
          <a:xfrm>
            <a:off x="457200" y="1257480"/>
            <a:ext cx="3657240" cy="1142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171360" rIns="171360" bIns="1713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200" b="0" strike="noStrike" spc="-1">
                <a:solidFill>
                  <a:srgbClr val="9EA7AD"/>
                </a:solidFill>
                <a:latin typeface="Inter"/>
              </a:rPr>
              <a:t>检索优先级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22333B"/>
                </a:solidFill>
                <a:latin typeface="Inter"/>
                <a:ea typeface="Inter"/>
              </a:rPr>
              <a:t>GitHub </a:t>
            </a:r>
            <a:r>
              <a:rPr lang="zh-CN" sz="1600" b="1" strike="noStrike" spc="-1">
                <a:solidFill>
                  <a:srgbClr val="22333B"/>
                </a:solidFill>
                <a:latin typeface="Inter"/>
                <a:ea typeface="Inter"/>
              </a:rPr>
              <a:t>仓库 </a:t>
            </a:r>
            <a:r>
              <a:rPr lang="en-US" sz="1600" b="1" strike="noStrike" spc="-1">
                <a:solidFill>
                  <a:srgbClr val="22333B"/>
                </a:solidFill>
                <a:latin typeface="Inter"/>
                <a:ea typeface="Inter"/>
              </a:rPr>
              <a:t>&gt; </a:t>
            </a:r>
            <a:r>
              <a:rPr lang="zh-CN" sz="1600" b="1" strike="noStrike" spc="-1">
                <a:solidFill>
                  <a:srgbClr val="22333B"/>
                </a:solidFill>
                <a:latin typeface="Inter"/>
                <a:ea typeface="Inter"/>
              </a:rPr>
              <a:t>文档 </a:t>
            </a:r>
            <a:r>
              <a:rPr lang="en-US" sz="1600" b="1" strike="noStrike" spc="-1">
                <a:solidFill>
                  <a:srgbClr val="22333B"/>
                </a:solidFill>
                <a:latin typeface="Inter"/>
                <a:ea typeface="Inter"/>
              </a:rPr>
              <a:t>&gt; </a:t>
            </a:r>
            <a:r>
              <a:rPr lang="zh-CN" sz="1600" b="1" strike="noStrike" spc="-1">
                <a:solidFill>
                  <a:srgbClr val="22333B"/>
                </a:solidFill>
                <a:latin typeface="Inter"/>
                <a:ea typeface="Inter"/>
              </a:rPr>
              <a:t>博客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riorityItem2"/>
          <p:cNvSpPr/>
          <p:nvPr/>
        </p:nvSpPr>
        <p:spPr>
          <a:xfrm>
            <a:off x="457200" y="2571840"/>
            <a:ext cx="3657240" cy="1142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1360" tIns="171360" rIns="171360" bIns="17136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9EA7AD"/>
                </a:solidFill>
                <a:latin typeface="Inter"/>
              </a:rPr>
              <a:t>OPENDIGGER </a:t>
            </a:r>
            <a:r>
              <a:rPr lang="zh-CN" sz="1200" b="0" strike="noStrike" spc="-1">
                <a:solidFill>
                  <a:srgbClr val="9EA7AD"/>
                </a:solidFill>
                <a:latin typeface="Inter"/>
              </a:rPr>
              <a:t>数据注入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CN" sz="1600" b="1" strike="noStrike" spc="-1">
                <a:solidFill>
                  <a:srgbClr val="22333B"/>
                </a:solidFill>
                <a:latin typeface="Inter"/>
                <a:ea typeface="Inter"/>
              </a:rPr>
              <a:t>回答含“活跃度排名 </a:t>
            </a:r>
            <a:r>
              <a:rPr lang="en-US" sz="1600" b="1" strike="noStrike" spc="-1">
                <a:solidFill>
                  <a:srgbClr val="22333B"/>
                </a:solidFill>
                <a:latin typeface="Inter"/>
                <a:ea typeface="Inter"/>
              </a:rPr>
              <a:t>Top 5%”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D73CD7-3BCD-607E-0871-C7823F2C38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703" y="961777"/>
            <a:ext cx="3657240" cy="40984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"/>
          <p:cNvSpPr/>
          <p:nvPr/>
        </p:nvSpPr>
        <p:spPr>
          <a:xfrm>
            <a:off x="457200" y="457200"/>
            <a:ext cx="82292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>
                <a:solidFill>
                  <a:srgbClr val="007B83"/>
                </a:solidFill>
                <a:latin typeface="Inter"/>
                <a:ea typeface="Inter"/>
              </a:rPr>
              <a:t>核心功能全景速览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Item 1"/>
          <p:cNvSpPr/>
          <p:nvPr/>
        </p:nvSpPr>
        <p:spPr>
          <a:xfrm>
            <a:off x="457200" y="1143000"/>
            <a:ext cx="400032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171360" rIns="228600" bIns="171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RSS </a:t>
            </a:r>
            <a:r>
              <a:rPr 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订阅管理</a:t>
            </a:r>
            <a:r>
              <a:rPr lang="en-US" alt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, </a:t>
            </a:r>
            <a:r>
              <a:rPr lang="zh-CN" altLang="en-US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支持上千平台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Icon 1"/>
          <p:cNvSpPr/>
          <p:nvPr/>
        </p:nvSpPr>
        <p:spPr>
          <a:xfrm>
            <a:off x="4114800" y="1314360"/>
            <a:ext cx="273960" cy="273960"/>
          </a:xfrm>
          <a:prstGeom prst="ellipse">
            <a:avLst/>
          </a:prstGeom>
          <a:solidFill>
            <a:srgbClr val="E6F2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7AE60"/>
                </a:solidFill>
                <a:latin typeface="Inter"/>
                <a:ea typeface="+mn-ea"/>
              </a:rPr>
              <a:t>✔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Item 2"/>
          <p:cNvSpPr/>
          <p:nvPr/>
        </p:nvSpPr>
        <p:spPr>
          <a:xfrm>
            <a:off x="4686480" y="1143000"/>
            <a:ext cx="400032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171360" rIns="228600" bIns="171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文章翻译</a:t>
            </a:r>
            <a:r>
              <a:rPr lang="en-US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/</a:t>
            </a:r>
            <a:r>
              <a:rPr 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摘要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Icon 2"/>
          <p:cNvSpPr/>
          <p:nvPr/>
        </p:nvSpPr>
        <p:spPr>
          <a:xfrm>
            <a:off x="8344080" y="1314360"/>
            <a:ext cx="273960" cy="273960"/>
          </a:xfrm>
          <a:prstGeom prst="ellipse">
            <a:avLst/>
          </a:prstGeom>
          <a:solidFill>
            <a:srgbClr val="E6F2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7AE60"/>
                </a:solidFill>
                <a:latin typeface="Inter"/>
                <a:ea typeface="+mn-ea"/>
              </a:rPr>
              <a:t>✔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Item 3"/>
          <p:cNvSpPr/>
          <p:nvPr/>
        </p:nvSpPr>
        <p:spPr>
          <a:xfrm>
            <a:off x="457200" y="2057400"/>
            <a:ext cx="400032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171360" rIns="228600" bIns="171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仓库画廊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Icon 3"/>
          <p:cNvSpPr/>
          <p:nvPr/>
        </p:nvSpPr>
        <p:spPr>
          <a:xfrm>
            <a:off x="4114800" y="2228760"/>
            <a:ext cx="273960" cy="273960"/>
          </a:xfrm>
          <a:prstGeom prst="ellipse">
            <a:avLst/>
          </a:prstGeom>
          <a:solidFill>
            <a:srgbClr val="E6F2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7AE60"/>
                </a:solidFill>
                <a:latin typeface="Inter"/>
                <a:ea typeface="+mn-ea"/>
              </a:rPr>
              <a:t>✔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Item 4"/>
          <p:cNvSpPr/>
          <p:nvPr/>
        </p:nvSpPr>
        <p:spPr>
          <a:xfrm>
            <a:off x="4686480" y="2057400"/>
            <a:ext cx="400032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171360" rIns="228600" bIns="171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Self-RAG </a:t>
            </a:r>
            <a:r>
              <a:rPr 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问答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Icon 4"/>
          <p:cNvSpPr/>
          <p:nvPr/>
        </p:nvSpPr>
        <p:spPr>
          <a:xfrm>
            <a:off x="8344080" y="2228760"/>
            <a:ext cx="273960" cy="273960"/>
          </a:xfrm>
          <a:prstGeom prst="ellipse">
            <a:avLst/>
          </a:prstGeom>
          <a:solidFill>
            <a:srgbClr val="E6F2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7AE60"/>
                </a:solidFill>
                <a:latin typeface="Inter"/>
                <a:ea typeface="+mn-ea"/>
              </a:rPr>
              <a:t>✔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Item 5"/>
          <p:cNvSpPr/>
          <p:nvPr/>
        </p:nvSpPr>
        <p:spPr>
          <a:xfrm>
            <a:off x="457200" y="2971800"/>
            <a:ext cx="400032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171360" rIns="228600" bIns="171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22333B"/>
                </a:solidFill>
                <a:latin typeface="Inter"/>
                <a:ea typeface="Inter"/>
              </a:rPr>
              <a:t>GitHub </a:t>
            </a:r>
            <a:r>
              <a:rPr lang="zh-CN" sz="1600" b="1" strike="noStrike" spc="-1">
                <a:solidFill>
                  <a:srgbClr val="22333B"/>
                </a:solidFill>
                <a:latin typeface="Inter"/>
                <a:ea typeface="Inter"/>
              </a:rPr>
              <a:t>实时同步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Icon 5"/>
          <p:cNvSpPr/>
          <p:nvPr/>
        </p:nvSpPr>
        <p:spPr>
          <a:xfrm>
            <a:off x="4114800" y="3143160"/>
            <a:ext cx="273960" cy="273960"/>
          </a:xfrm>
          <a:prstGeom prst="ellipse">
            <a:avLst/>
          </a:prstGeom>
          <a:solidFill>
            <a:srgbClr val="E6F2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7AE60"/>
                </a:solidFill>
                <a:latin typeface="Inter"/>
                <a:ea typeface="+mn-ea"/>
              </a:rPr>
              <a:t>✔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Item 6"/>
          <p:cNvSpPr/>
          <p:nvPr/>
        </p:nvSpPr>
        <p:spPr>
          <a:xfrm>
            <a:off x="4686480" y="2971800"/>
            <a:ext cx="400032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  <a:effectLst>
            <a:outerShdw blurRad="57240" dist="23040" dir="5400000" algn="ctr" rotWithShape="0">
              <a:srgbClr val="000000">
                <a:alpha val="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171360" rIns="228600" bIns="171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后台</a:t>
            </a:r>
            <a:r>
              <a:rPr lang="zh-CN" altLang="en-US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自动</a:t>
            </a:r>
            <a:r>
              <a:rPr 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调度</a:t>
            </a:r>
            <a:r>
              <a:rPr lang="en-US" alt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, </a:t>
            </a:r>
            <a:r>
              <a:rPr lang="zh-CN" altLang="en-US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自动更新</a:t>
            </a:r>
            <a:r>
              <a:rPr lang="en-US" altLang="zh-CN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, </a:t>
            </a:r>
            <a:r>
              <a:rPr lang="zh-CN" altLang="en-US" sz="1600" b="1" strike="noStrike" spc="-1" dirty="0">
                <a:solidFill>
                  <a:srgbClr val="22333B"/>
                </a:solidFill>
                <a:latin typeface="Inter"/>
                <a:ea typeface="Inter"/>
              </a:rPr>
              <a:t>免除手动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Icon 6"/>
          <p:cNvSpPr/>
          <p:nvPr/>
        </p:nvSpPr>
        <p:spPr>
          <a:xfrm>
            <a:off x="8344080" y="3143160"/>
            <a:ext cx="273960" cy="273960"/>
          </a:xfrm>
          <a:prstGeom prst="ellipse">
            <a:avLst/>
          </a:prstGeom>
          <a:solidFill>
            <a:srgbClr val="E6F2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7AE60"/>
                </a:solidFill>
                <a:latin typeface="Inter"/>
                <a:ea typeface="+mn-ea"/>
              </a:rPr>
              <a:t>✔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"/>
          <p:cNvSpPr/>
          <p:nvPr/>
        </p:nvSpPr>
        <p:spPr>
          <a:xfrm>
            <a:off x="457200" y="457200"/>
            <a:ext cx="8229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strike="noStrike" spc="-1">
                <a:solidFill>
                  <a:srgbClr val="007B83"/>
                </a:solidFill>
                <a:latin typeface="Inter"/>
                <a:ea typeface="Inter"/>
              </a:rPr>
              <a:t>技术架构：现代、开源、可扩展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Layer Client"/>
          <p:cNvSpPr/>
          <p:nvPr/>
        </p:nvSpPr>
        <p:spPr>
          <a:xfrm>
            <a:off x="457200" y="1257480"/>
            <a:ext cx="8229240" cy="571320"/>
          </a:xfrm>
          <a:prstGeom prst="roundRect">
            <a:avLst>
              <a:gd name="adj" fmla="val 16667"/>
            </a:avLst>
          </a:prstGeom>
          <a:solidFill>
            <a:srgbClr val="007B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4480" tIns="114480" rIns="114480" bIns="1144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Inter"/>
              </a:rPr>
              <a:t>Next.js 14 (SSR+App Router)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Connector 1"/>
          <p:cNvSpPr/>
          <p:nvPr/>
        </p:nvSpPr>
        <p:spPr>
          <a:xfrm>
            <a:off x="4572000" y="1828800"/>
            <a:ext cx="22680" cy="228240"/>
          </a:xfrm>
          <a:prstGeom prst="rect">
            <a:avLst/>
          </a:prstGeom>
          <a:solidFill>
            <a:srgbClr val="9999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Layer Server"/>
          <p:cNvSpPr/>
          <p:nvPr/>
        </p:nvSpPr>
        <p:spPr>
          <a:xfrm>
            <a:off x="457200" y="2057400"/>
            <a:ext cx="8229240" cy="571320"/>
          </a:xfrm>
          <a:prstGeom prst="roundRect">
            <a:avLst>
              <a:gd name="adj" fmla="val 16667"/>
            </a:avLst>
          </a:prstGeom>
          <a:solidFill>
            <a:srgbClr val="22333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4480" tIns="114480" rIns="114480" bIns="1144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Inter"/>
              </a:rPr>
              <a:t>FastAPI + Celery + Redis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Connector 2"/>
          <p:cNvSpPr/>
          <p:nvPr/>
        </p:nvSpPr>
        <p:spPr>
          <a:xfrm>
            <a:off x="4572000" y="2629080"/>
            <a:ext cx="22680" cy="228240"/>
          </a:xfrm>
          <a:prstGeom prst="rect">
            <a:avLst/>
          </a:prstGeom>
          <a:solidFill>
            <a:srgbClr val="9999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Layer DB"/>
          <p:cNvSpPr/>
          <p:nvPr/>
        </p:nvSpPr>
        <p:spPr>
          <a:xfrm>
            <a:off x="457200" y="2857680"/>
            <a:ext cx="8229240" cy="571320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4480" tIns="114480" rIns="114480" bIns="1144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Inter"/>
              </a:rPr>
              <a:t>Supabase (PostgreSQL+pgvector+RLS)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Details Box"/>
          <p:cNvSpPr/>
          <p:nvPr/>
        </p:nvSpPr>
        <p:spPr>
          <a:xfrm>
            <a:off x="229784" y="3657600"/>
            <a:ext cx="82292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Detail 1"/>
          <p:cNvSpPr/>
          <p:nvPr/>
        </p:nvSpPr>
        <p:spPr>
          <a:xfrm>
            <a:off x="628560" y="3886200"/>
            <a:ext cx="2499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007B83"/>
                </a:solidFill>
                <a:latin typeface="Inter"/>
              </a:rPr>
              <a:t>📦</a:t>
            </a:r>
            <a:r>
              <a:rPr lang="en-US" sz="1400" b="0" strike="noStrike" spc="-1">
                <a:solidFill>
                  <a:srgbClr val="555555"/>
                </a:solidFill>
                <a:latin typeface="Inter"/>
              </a:rPr>
              <a:t> </a:t>
            </a:r>
            <a:r>
              <a:rPr lang="zh-CN" sz="1400" b="0" strike="noStrike" spc="-1">
                <a:solidFill>
                  <a:srgbClr val="555555"/>
                </a:solidFill>
                <a:latin typeface="Inter"/>
              </a:rPr>
              <a:t>容器化：</a:t>
            </a:r>
            <a:r>
              <a:rPr lang="en-US" sz="1400" b="0" strike="noStrike" spc="-1">
                <a:solidFill>
                  <a:srgbClr val="555555"/>
                </a:solidFill>
                <a:latin typeface="Inter"/>
              </a:rPr>
              <a:t>Docker-Compose </a:t>
            </a:r>
            <a:r>
              <a:rPr lang="zh-CN" sz="1400" b="0" strike="noStrike" spc="-1">
                <a:solidFill>
                  <a:srgbClr val="555555"/>
                </a:solidFill>
                <a:latin typeface="Inter"/>
              </a:rPr>
              <a:t>一键起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Detail 2"/>
          <p:cNvSpPr/>
          <p:nvPr/>
        </p:nvSpPr>
        <p:spPr>
          <a:xfrm>
            <a:off x="3314880" y="3886200"/>
            <a:ext cx="2499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007B83"/>
                </a:solidFill>
                <a:latin typeface="Inter"/>
              </a:rPr>
              <a:t>🔌</a:t>
            </a:r>
            <a:r>
              <a:rPr lang="en-US" sz="1400" b="0" strike="noStrike" spc="-1">
                <a:solidFill>
                  <a:srgbClr val="555555"/>
                </a:solidFill>
                <a:latin typeface="Inter"/>
              </a:rPr>
              <a:t> </a:t>
            </a:r>
            <a:r>
              <a:rPr lang="zh-CN" sz="1400" b="0" strike="noStrike" spc="-1">
                <a:solidFill>
                  <a:srgbClr val="555555"/>
                </a:solidFill>
                <a:latin typeface="Inter"/>
              </a:rPr>
              <a:t>插件化：</a:t>
            </a:r>
            <a:r>
              <a:rPr lang="en-US" sz="1400" b="0" strike="noStrike" spc="-1">
                <a:solidFill>
                  <a:srgbClr val="555555"/>
                </a:solidFill>
                <a:latin typeface="Inter"/>
              </a:rPr>
              <a:t>RSS Parser &amp; LLM </a:t>
            </a:r>
            <a:r>
              <a:rPr lang="zh-CN" sz="1400" b="0" strike="noStrike" spc="-1">
                <a:solidFill>
                  <a:srgbClr val="555555"/>
                </a:solidFill>
                <a:latin typeface="Inter"/>
              </a:rPr>
              <a:t>模块热插拔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Detail 3"/>
          <p:cNvSpPr/>
          <p:nvPr/>
        </p:nvSpPr>
        <p:spPr>
          <a:xfrm>
            <a:off x="6000840" y="3886200"/>
            <a:ext cx="2499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7B83"/>
                </a:solidFill>
                <a:latin typeface="Inter"/>
              </a:rPr>
              <a:t>📂</a:t>
            </a:r>
            <a:r>
              <a:rPr lang="en-US" sz="1400" b="0" strike="noStrike" spc="-1" dirty="0">
                <a:solidFill>
                  <a:srgbClr val="555555"/>
                </a:solidFill>
                <a:latin typeface="Inter"/>
              </a:rPr>
              <a:t> </a:t>
            </a:r>
            <a:r>
              <a:rPr lang="zh-CN" sz="1400" b="0" strike="noStrike" spc="-1" dirty="0">
                <a:solidFill>
                  <a:srgbClr val="555555"/>
                </a:solidFill>
                <a:latin typeface="Inter"/>
              </a:rPr>
              <a:t>开源地址：</a:t>
            </a:r>
            <a:r>
              <a:rPr lang="en-US" altLang="zh-CN" sz="1400" spc="-1" dirty="0" err="1">
                <a:solidFill>
                  <a:srgbClr val="555555"/>
                </a:solidFill>
              </a:rPr>
              <a:t>InvisibleQAQ</a:t>
            </a:r>
            <a:r>
              <a:rPr lang="en-US" altLang="zh-CN" sz="1400" spc="-1" dirty="0">
                <a:solidFill>
                  <a:srgbClr val="555555"/>
                </a:solidFill>
              </a:rPr>
              <a:t>/</a:t>
            </a:r>
            <a:r>
              <a:rPr lang="en-US" altLang="zh-CN" sz="1400" spc="-1" dirty="0" err="1">
                <a:solidFill>
                  <a:srgbClr val="555555"/>
                </a:solidFill>
              </a:rPr>
              <a:t>SaveHub_Supabase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B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"/>
          <p:cNvSpPr/>
          <p:nvPr/>
        </p:nvSpPr>
        <p:spPr>
          <a:xfrm>
            <a:off x="914400" y="1000080"/>
            <a:ext cx="7314840" cy="79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3600" b="1" strike="noStrike" spc="-1">
                <a:solidFill>
                  <a:srgbClr val="FFFFFF"/>
                </a:solidFill>
                <a:latin typeface="Inter"/>
                <a:ea typeface="Inter"/>
              </a:rPr>
              <a:t>立即行动：开始发掘你的开源宝藏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LinkItem1"/>
          <p:cNvSpPr/>
          <p:nvPr/>
        </p:nvSpPr>
        <p:spPr>
          <a:xfrm>
            <a:off x="914400" y="2000160"/>
            <a:ext cx="73148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C8D436"/>
                </a:solidFill>
                <a:latin typeface="Inter"/>
              </a:rPr>
              <a:t>⭐ </a:t>
            </a:r>
            <a:r>
              <a:rPr lang="en-US" sz="1800" b="0" strike="noStrike" spc="-1" dirty="0">
                <a:solidFill>
                  <a:srgbClr val="FFFFFF"/>
                </a:solidFill>
                <a:latin typeface="Inter"/>
              </a:rPr>
              <a:t>GitHub: github.com/</a:t>
            </a:r>
            <a:r>
              <a:rPr lang="en-US" spc="-1" dirty="0" err="1">
                <a:solidFill>
                  <a:srgbClr val="FFFFFF"/>
                </a:solidFill>
              </a:rPr>
              <a:t>InvisibleQAQ</a:t>
            </a:r>
            <a:r>
              <a:rPr lang="en-US" spc="-1" dirty="0">
                <a:solidFill>
                  <a:srgbClr val="FFFFFF"/>
                </a:solidFill>
              </a:rPr>
              <a:t>/</a:t>
            </a:r>
            <a:r>
              <a:rPr lang="en-US" spc="-1" dirty="0" err="1">
                <a:solidFill>
                  <a:srgbClr val="FFFFFF"/>
                </a:solidFill>
              </a:rPr>
              <a:t>SaveHub_Supabase</a:t>
            </a:r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LinkItem2"/>
          <p:cNvSpPr/>
          <p:nvPr/>
        </p:nvSpPr>
        <p:spPr>
          <a:xfrm>
            <a:off x="914400" y="2499840"/>
            <a:ext cx="73148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LinkItem3"/>
          <p:cNvSpPr/>
          <p:nvPr/>
        </p:nvSpPr>
        <p:spPr>
          <a:xfrm>
            <a:off x="914400" y="2999880"/>
            <a:ext cx="73148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C8D436"/>
                </a:solidFill>
                <a:latin typeface="Inter"/>
              </a:rPr>
              <a:t>🤝 </a:t>
            </a:r>
            <a:r>
              <a:rPr lang="zh-CN" altLang="en-US" spc="-1" dirty="0">
                <a:solidFill>
                  <a:srgbClr val="FFFFFF"/>
                </a:solidFill>
                <a:latin typeface="Inter"/>
              </a:rPr>
              <a:t>欢迎贡献</a:t>
            </a:r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ubText"/>
          <p:cNvSpPr/>
          <p:nvPr/>
        </p:nvSpPr>
        <p:spPr>
          <a:xfrm>
            <a:off x="914400" y="3800160"/>
            <a:ext cx="73148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Made with ❤️ </a:t>
            </a:r>
            <a:r>
              <a:rPr lang="en-US" altLang="zh-CN" sz="1400" b="0" strike="noStrike" spc="-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by Chun Xian</a:t>
            </a:r>
            <a:r>
              <a:rPr lang="en-US" sz="1400" b="0" strike="noStrike" spc="-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—— </a:t>
            </a:r>
            <a:r>
              <a:rPr lang="zh-CN" altLang="en-US" sz="1400" b="0" strike="noStrike" spc="-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开源淘金热</a:t>
            </a:r>
            <a:r>
              <a:rPr lang="en-US" altLang="zh-CN" sz="1400" b="0" strike="noStrike" spc="-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, </a:t>
            </a:r>
            <a:r>
              <a:rPr lang="zh-CN" altLang="en-US" sz="1400" b="0" strike="noStrike" spc="-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愿做免费卖铲人</a:t>
            </a:r>
            <a:r>
              <a:rPr lang="en-US" sz="1400" b="0" strike="noStrike" spc="-1" dirty="0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</a:rPr>
              <a:t> </a:t>
            </a:r>
            <a:endParaRPr lang="en-US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FooterLogo"/>
          <p:cNvSpPr/>
          <p:nvPr/>
        </p:nvSpPr>
        <p:spPr>
          <a:xfrm>
            <a:off x="6858000" y="4799880"/>
            <a:ext cx="2057040" cy="29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>
                    <a:alpha val="50000"/>
                  </a:srgbClr>
                </a:solidFill>
                <a:latin typeface="Inter"/>
              </a:rPr>
              <a:t>SaveHub © 2024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B83"/>
      </a:accent1>
      <a:accent2>
        <a:srgbClr val="C8D436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922</Words>
  <Application>Microsoft Office PowerPoint</Application>
  <PresentationFormat>Custom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14</vt:i4>
      </vt:variant>
    </vt:vector>
  </HeadingPairs>
  <TitlesOfParts>
    <vt:vector size="30" baseType="lpstr">
      <vt:lpstr>Inter</vt:lpstr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  </dc:creator>
  <dc:description/>
  <cp:lastModifiedBy>Xian Alan</cp:lastModifiedBy>
  <cp:revision>7</cp:revision>
  <dcterms:created xsi:type="dcterms:W3CDTF">2025-10-01T00:00:00Z</dcterms:created>
  <dcterms:modified xsi:type="dcterms:W3CDTF">2026-01-04T02:42:19Z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 "1", "ContentProducer": "001191310115MA1H9U6C1800000", "ProduceID": "Metasota_8695981386980544512", "ContentPropagator": "001191310115MA1H9U6C1800000", "PropagateID": "Metasota_8695981386980544512", "ReservedCode1": null, "ReservedCode2": null}</vt:lpwstr>
  </property>
  <property fmtid="{D5CDD505-2E9C-101B-9397-08002B2CF9AE}" pid="3" name="ICV">
    <vt:lpwstr>DE2495F67D6A46DE886134F3D60B4EAB_12</vt:lpwstr>
  </property>
  <property fmtid="{D5CDD505-2E9C-101B-9397-08002B2CF9AE}" pid="4" name="KSOProductBuildVer">
    <vt:lpwstr>2052-12.1.0.24034</vt:lpwstr>
  </property>
  <property fmtid="{D5CDD505-2E9C-101B-9397-08002B2CF9AE}" pid="5" name="PresentationFormat">
    <vt:lpwstr>自定义</vt:lpwstr>
  </property>
  <property fmtid="{D5CDD505-2E9C-101B-9397-08002B2CF9AE}" pid="6" name="Slides">
    <vt:r8>1</vt:r8>
  </property>
</Properties>
</file>